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75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12192000"/>
  <p:embeddedFontLst>
    <p:embeddedFont>
      <p:font typeface="Montserrat" panose="00000500000000000000" pitchFamily="2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6070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26" Type="http://schemas.openxmlformats.org/officeDocument/2006/relationships/image" Target="../media/image33.png"/><Relationship Id="rId3" Type="http://schemas.openxmlformats.org/officeDocument/2006/relationships/image" Target="../media/image10.png"/><Relationship Id="rId21" Type="http://schemas.openxmlformats.org/officeDocument/2006/relationships/image" Target="../media/image28.sv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svg"/><Relationship Id="rId25" Type="http://schemas.openxmlformats.org/officeDocument/2006/relationships/image" Target="../media/image32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29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24" Type="http://schemas.openxmlformats.org/officeDocument/2006/relationships/image" Target="../media/image31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23" Type="http://schemas.openxmlformats.org/officeDocument/2006/relationships/image" Target="../media/image30.svg"/><Relationship Id="rId28" Type="http://schemas.openxmlformats.org/officeDocument/2006/relationships/image" Target="../media/image35.png"/><Relationship Id="rId10" Type="http://schemas.openxmlformats.org/officeDocument/2006/relationships/image" Target="../media/image17.svg"/><Relationship Id="rId19" Type="http://schemas.openxmlformats.org/officeDocument/2006/relationships/image" Target="../media/image26.svg"/><Relationship Id="rId31" Type="http://schemas.openxmlformats.org/officeDocument/2006/relationships/image" Target="../media/image38.pn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png"/><Relationship Id="rId22" Type="http://schemas.openxmlformats.org/officeDocument/2006/relationships/image" Target="../media/image29.png"/><Relationship Id="rId27" Type="http://schemas.openxmlformats.org/officeDocument/2006/relationships/image" Target="../media/image34.svg"/><Relationship Id="rId30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13" Type="http://schemas.openxmlformats.org/officeDocument/2006/relationships/image" Target="../media/image53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2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5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sv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svg"/><Relationship Id="rId4" Type="http://schemas.openxmlformats.org/officeDocument/2006/relationships/image" Target="../media/image44.png"/><Relationship Id="rId9" Type="http://schemas.openxmlformats.org/officeDocument/2006/relationships/image" Target="../media/image49.png"/><Relationship Id="rId14" Type="http://schemas.openxmlformats.org/officeDocument/2006/relationships/image" Target="../media/image5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svg"/><Relationship Id="rId4" Type="http://schemas.openxmlformats.org/officeDocument/2006/relationships/image" Target="../media/image6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svg"/><Relationship Id="rId12" Type="http://schemas.openxmlformats.org/officeDocument/2006/relationships/image" Target="../media/image7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image" Target="../media/image73.svg"/><Relationship Id="rId5" Type="http://schemas.openxmlformats.org/officeDocument/2006/relationships/image" Target="../media/image67.sv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svg"/><Relationship Id="rId13" Type="http://schemas.openxmlformats.org/officeDocument/2006/relationships/image" Target="../media/image85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12" Type="http://schemas.openxmlformats.org/officeDocument/2006/relationships/image" Target="../media/image8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svg"/><Relationship Id="rId11" Type="http://schemas.openxmlformats.org/officeDocument/2006/relationships/image" Target="../media/image83.png"/><Relationship Id="rId5" Type="http://schemas.openxmlformats.org/officeDocument/2006/relationships/image" Target="../media/image77.png"/><Relationship Id="rId15" Type="http://schemas.openxmlformats.org/officeDocument/2006/relationships/image" Target="../media/image87.png"/><Relationship Id="rId10" Type="http://schemas.openxmlformats.org/officeDocument/2006/relationships/image" Target="../media/image82.svg"/><Relationship Id="rId4" Type="http://schemas.openxmlformats.org/officeDocument/2006/relationships/image" Target="../media/image76.svg"/><Relationship Id="rId9" Type="http://schemas.openxmlformats.org/officeDocument/2006/relationships/image" Target="../media/image81.png"/><Relationship Id="rId14" Type="http://schemas.openxmlformats.org/officeDocument/2006/relationships/image" Target="../media/image8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sv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svg"/><Relationship Id="rId5" Type="http://schemas.openxmlformats.org/officeDocument/2006/relationships/image" Target="../media/image98.png"/><Relationship Id="rId10" Type="http://schemas.openxmlformats.org/officeDocument/2006/relationships/image" Target="../media/image103.svg"/><Relationship Id="rId4" Type="http://schemas.openxmlformats.org/officeDocument/2006/relationships/image" Target="../media/image97.svg"/><Relationship Id="rId9" Type="http://schemas.openxmlformats.org/officeDocument/2006/relationships/image" Target="../media/image10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-93702" y="585634"/>
            <a:ext cx="12379404" cy="131458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Leveraging Data to Revolutionize Airline Operations</a:t>
            </a:r>
            <a:endParaRPr lang="en-US" sz="4400" dirty="0"/>
          </a:p>
        </p:txBody>
      </p:sp>
      <p:sp>
        <p:nvSpPr>
          <p:cNvPr id="3" name="Object 2"/>
          <p:cNvSpPr/>
          <p:nvPr/>
        </p:nvSpPr>
        <p:spPr>
          <a:xfrm>
            <a:off x="114694" y="2456803"/>
            <a:ext cx="11810213" cy="2208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738"/>
              </a:lnSpc>
              <a:spcBef>
                <a:spcPts val="2651"/>
              </a:spcBef>
              <a:buNone/>
            </a:pPr>
            <a:r>
              <a:rPr lang="en-US" sz="138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                                                              </a:t>
            </a:r>
            <a:r>
              <a:rPr lang="en-US" sz="1380" b="1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  </a:t>
            </a:r>
            <a:r>
              <a:rPr lang="en-US" sz="1380" b="1" dirty="0">
                <a:solidFill>
                  <a:srgbClr val="FFFFFF">
                    <a:alpha val="9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TRANSFORMING GLOBAL AVIATION THROUGH ADVANCED ANALYTICS  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3"/>
          <p:cNvSpPr/>
          <p:nvPr/>
        </p:nvSpPr>
        <p:spPr>
          <a:xfrm>
            <a:off x="2431550" y="2991313"/>
            <a:ext cx="7617423" cy="2016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588"/>
              </a:lnSpc>
              <a:spcBef>
                <a:spcPts val="2172"/>
              </a:spcBef>
              <a:buNone/>
            </a:pPr>
            <a:r>
              <a:rPr lang="en-US" sz="1134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                                        </a:t>
            </a:r>
            <a:r>
              <a:rPr lang="en-US" sz="1134" b="1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Presented by Group  1:     Muhammad, Eyasu, Anushree, Beha</a:t>
            </a:r>
            <a:endParaRPr lang="en-US" b="1" dirty="0"/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9FE14E73-C9CD-9823-F8AC-1C1C4A03BD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914" b="18566"/>
          <a:stretch/>
        </p:blipFill>
        <p:spPr>
          <a:xfrm>
            <a:off x="0" y="3429000"/>
            <a:ext cx="1219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016"/>
              </a:lnSpc>
              <a:buNone/>
            </a:pPr>
            <a:r>
              <a:rPr lang="en-US" sz="3188" b="1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 and Problem Statement</a:t>
            </a:r>
            <a:endParaRPr lang="en-US" b="1" dirty="0"/>
          </a:p>
        </p:txBody>
      </p:sp>
      <p:pic>
        <p:nvPicPr>
          <p:cNvPr id="3" name="Object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76870" y="2215364"/>
            <a:ext cx="999875" cy="695151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351861" y="3400765"/>
            <a:ext cx="3676683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b="1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Airline Industry Challenges</a:t>
            </a:r>
            <a:endParaRPr lang="en-US" b="1" dirty="0"/>
          </a:p>
        </p:txBody>
      </p:sp>
      <p:sp>
        <p:nvSpPr>
          <p:cNvPr id="5" name="Object 4"/>
          <p:cNvSpPr/>
          <p:nvPr/>
        </p:nvSpPr>
        <p:spPr>
          <a:xfrm>
            <a:off x="351861" y="3716946"/>
            <a:ext cx="3676683" cy="8528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  <a:buNone/>
            </a:pP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Costly flight delays, cancellations, and operational inefficiencies negatively impact airline profitability and customer satisfaction.</a:t>
            </a:r>
            <a:endParaRPr lang="en-US" dirty="0"/>
          </a:p>
        </p:txBody>
      </p:sp>
      <p:pic>
        <p:nvPicPr>
          <p:cNvPr id="6" name="Object 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25792" y="2159698"/>
            <a:ext cx="942739" cy="876081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4360883" y="3400765"/>
            <a:ext cx="3467185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b="1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Environmental Impact</a:t>
            </a:r>
            <a:endParaRPr lang="en-US" b="1" dirty="0"/>
          </a:p>
        </p:txBody>
      </p:sp>
      <p:sp>
        <p:nvSpPr>
          <p:cNvPr id="8" name="Object 7"/>
          <p:cNvSpPr/>
          <p:nvPr/>
        </p:nvSpPr>
        <p:spPr>
          <a:xfrm>
            <a:off x="4360883" y="3716946"/>
            <a:ext cx="3467185" cy="8528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  <a:buNone/>
            </a:pP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Disruptions in flight schedules lead to increased fuel consumption and carbon emissions, contributing to environmental concerns.</a:t>
            </a:r>
            <a:endParaRPr lang="en-US" dirty="0"/>
          </a:p>
        </p:txBody>
      </p:sp>
      <p:pic>
        <p:nvPicPr>
          <p:cNvPr id="9" name="Object 8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19352" y="2271289"/>
            <a:ext cx="752287" cy="638015"/>
          </a:xfrm>
          <a:prstGeom prst="rect">
            <a:avLst/>
          </a:prstGeom>
        </p:spPr>
      </p:pic>
      <p:sp>
        <p:nvSpPr>
          <p:cNvPr id="10" name="Object 9"/>
          <p:cNvSpPr/>
          <p:nvPr/>
        </p:nvSpPr>
        <p:spPr>
          <a:xfrm>
            <a:off x="8128983" y="3400765"/>
            <a:ext cx="3739532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b="1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Untapped Potential of Data</a:t>
            </a:r>
            <a:endParaRPr lang="en-US" b="1" dirty="0"/>
          </a:p>
        </p:txBody>
      </p:sp>
      <p:sp>
        <p:nvSpPr>
          <p:cNvPr id="11" name="Object 10"/>
          <p:cNvSpPr/>
          <p:nvPr/>
        </p:nvSpPr>
        <p:spPr>
          <a:xfrm>
            <a:off x="8128983" y="3716946"/>
            <a:ext cx="3739532" cy="8528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  <a:buNone/>
            </a:pP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Leveraging </a:t>
            </a:r>
            <a:r>
              <a:rPr lang="en-US" sz="1200" b="1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big data tools </a:t>
            </a: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 techniques to analyze comprehensive airline data can uncover valuable insights for optimization and competitive advantages.</a:t>
            </a:r>
            <a:endParaRPr lang="en-US" dirty="0"/>
          </a:p>
        </p:txBody>
      </p:sp>
      <p:sp>
        <p:nvSpPr>
          <p:cNvPr id="12" name="Object 11"/>
          <p:cNvSpPr/>
          <p:nvPr/>
        </p:nvSpPr>
        <p:spPr>
          <a:xfrm>
            <a:off x="0" y="5351712"/>
            <a:ext cx="12188952" cy="1504574"/>
          </a:xfrm>
          <a:prstGeom prst="rect">
            <a:avLst/>
          </a:prstGeom>
          <a:solidFill>
            <a:srgbClr val="62A8BB"/>
          </a:solidFill>
        </p:spPr>
        <p:txBody>
          <a:bodyPr/>
          <a:lstStyle/>
          <a:p>
            <a:endParaRPr lang="en-CA"/>
          </a:p>
        </p:txBody>
      </p:sp>
      <p:sp>
        <p:nvSpPr>
          <p:cNvPr id="13" name="Object 12"/>
          <p:cNvSpPr/>
          <p:nvPr/>
        </p:nvSpPr>
        <p:spPr>
          <a:xfrm>
            <a:off x="870784" y="5668636"/>
            <a:ext cx="10447384" cy="86373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2268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By addressing the key challenges and capitalizing on the opportunities presented by data-driven insights, airlines can improve operational efficiency, enhance the customer experience, and gain a competitive edge in the industry.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016"/>
              </a:lnSpc>
              <a:buNone/>
            </a:pPr>
            <a:r>
              <a:rPr lang="en-US" sz="3188" b="1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 Distribution</a:t>
            </a:r>
            <a:endParaRPr lang="en-US" b="1" dirty="0"/>
          </a:p>
        </p:txBody>
      </p:sp>
      <p:pic>
        <p:nvPicPr>
          <p:cNvPr id="3" name="Object 2"/>
          <p:cNvPicPr>
            <a:picLocks noChangeAspect="1"/>
          </p:cNvPicPr>
          <p:nvPr/>
        </p:nvPicPr>
        <p:blipFill>
          <a:blip r:embed="rId3"/>
          <a:srcRect l="-19198" t="-21738" r="-19198" b="-21738"/>
          <a:stretch/>
        </p:blipFill>
        <p:spPr>
          <a:xfrm>
            <a:off x="511841" y="2018795"/>
            <a:ext cx="2380655" cy="2380655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353527" y="4538718"/>
            <a:ext cx="2697282" cy="4606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b="1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Muhammad Maqsud Hussain</a:t>
            </a:r>
            <a:endParaRPr lang="en-US" b="1" dirty="0"/>
          </a:p>
        </p:txBody>
      </p:sp>
      <p:sp>
        <p:nvSpPr>
          <p:cNvPr id="5" name="Object 4"/>
          <p:cNvSpPr/>
          <p:nvPr/>
        </p:nvSpPr>
        <p:spPr>
          <a:xfrm>
            <a:off x="353527" y="5085227"/>
            <a:ext cx="2697282" cy="8528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  <a:buNone/>
            </a:pP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Conducted intro section and Route Optimization Analysis,  Future Works and Project Documentation</a:t>
            </a:r>
            <a:endParaRPr lang="en-US" dirty="0"/>
          </a:p>
        </p:txBody>
      </p:sp>
      <p:pic>
        <p:nvPicPr>
          <p:cNvPr id="6" name="Object 5"/>
          <p:cNvPicPr>
            <a:picLocks noChangeAspect="1"/>
          </p:cNvPicPr>
          <p:nvPr/>
        </p:nvPicPr>
        <p:blipFill>
          <a:blip r:embed="rId3"/>
          <a:srcRect l="-22641" t="-25306" r="-22641" b="-25306"/>
          <a:stretch/>
        </p:blipFill>
        <p:spPr>
          <a:xfrm>
            <a:off x="3440046" y="2018795"/>
            <a:ext cx="2380655" cy="2380655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3281732" y="4538718"/>
            <a:ext cx="2697282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b="1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Eyasu Deresa</a:t>
            </a:r>
            <a:endParaRPr lang="en-US" b="1" dirty="0"/>
          </a:p>
        </p:txBody>
      </p:sp>
      <p:sp>
        <p:nvSpPr>
          <p:cNvPr id="8" name="Object 7"/>
          <p:cNvSpPr/>
          <p:nvPr/>
        </p:nvSpPr>
        <p:spPr>
          <a:xfrm>
            <a:off x="3281732" y="4854899"/>
            <a:ext cx="2697282" cy="106608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  <a:buNone/>
            </a:pP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 Architecture, Flight Status Analysis, International Travel Flow Analysis, Project Documentation and  Presentation Deck Preparation</a:t>
            </a:r>
            <a:endParaRPr lang="en-US" dirty="0"/>
          </a:p>
        </p:txBody>
      </p:sp>
      <p:pic>
        <p:nvPicPr>
          <p:cNvPr id="9" name="Object 8"/>
          <p:cNvPicPr>
            <a:picLocks noChangeAspect="1"/>
          </p:cNvPicPr>
          <p:nvPr/>
        </p:nvPicPr>
        <p:blipFill>
          <a:blip r:embed="rId4"/>
          <a:srcRect l="-23781" t="-20472" r="-23781" b="-20472"/>
          <a:stretch/>
        </p:blipFill>
        <p:spPr>
          <a:xfrm>
            <a:off x="6368251" y="2018795"/>
            <a:ext cx="2380655" cy="2380655"/>
          </a:xfrm>
          <a:prstGeom prst="rect">
            <a:avLst/>
          </a:prstGeom>
        </p:spPr>
      </p:pic>
      <p:sp>
        <p:nvSpPr>
          <p:cNvPr id="10" name="Object 9"/>
          <p:cNvSpPr/>
          <p:nvPr/>
        </p:nvSpPr>
        <p:spPr>
          <a:xfrm>
            <a:off x="6209938" y="4538718"/>
            <a:ext cx="2697282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b="1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Anusri Das</a:t>
            </a:r>
            <a:endParaRPr lang="en-US" b="1" dirty="0"/>
          </a:p>
        </p:txBody>
      </p:sp>
      <p:sp>
        <p:nvSpPr>
          <p:cNvPr id="11" name="Object 10"/>
          <p:cNvSpPr/>
          <p:nvPr/>
        </p:nvSpPr>
        <p:spPr>
          <a:xfrm>
            <a:off x="6209938" y="4854899"/>
            <a:ext cx="2697282" cy="6396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  <a:buNone/>
            </a:pP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Passenger Demographics Analysis, Solution Description and References</a:t>
            </a:r>
            <a:endParaRPr lang="en-US" dirty="0"/>
          </a:p>
        </p:txBody>
      </p:sp>
      <p:pic>
        <p:nvPicPr>
          <p:cNvPr id="12" name="Object 11"/>
          <p:cNvPicPr>
            <a:picLocks noChangeAspect="1"/>
          </p:cNvPicPr>
          <p:nvPr/>
        </p:nvPicPr>
        <p:blipFill>
          <a:blip r:embed="rId4"/>
          <a:srcRect l="-28411" t="-24895" r="-28411" b="-24895"/>
          <a:stretch/>
        </p:blipFill>
        <p:spPr>
          <a:xfrm>
            <a:off x="9296457" y="2018795"/>
            <a:ext cx="2380655" cy="2380655"/>
          </a:xfrm>
          <a:prstGeom prst="rect">
            <a:avLst/>
          </a:prstGeom>
        </p:spPr>
      </p:pic>
      <p:sp>
        <p:nvSpPr>
          <p:cNvPr id="13" name="Object 12"/>
          <p:cNvSpPr/>
          <p:nvPr/>
        </p:nvSpPr>
        <p:spPr>
          <a:xfrm>
            <a:off x="9138143" y="4538718"/>
            <a:ext cx="2697282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b="1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Beha Shirshekar</a:t>
            </a:r>
            <a:endParaRPr lang="en-US" b="1" dirty="0"/>
          </a:p>
        </p:txBody>
      </p:sp>
      <p:sp>
        <p:nvSpPr>
          <p:cNvPr id="14" name="Object 13"/>
          <p:cNvSpPr/>
          <p:nvPr/>
        </p:nvSpPr>
        <p:spPr>
          <a:xfrm>
            <a:off x="9138143" y="4854899"/>
            <a:ext cx="2697282" cy="6396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  <a:buNone/>
            </a:pP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Airport Performance Analysis, Tools Used and Presentation Deck Preparation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016"/>
              </a:lnSpc>
              <a:buNone/>
            </a:pPr>
            <a:r>
              <a:rPr lang="en-US" sz="3188" b="1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Overview</a:t>
            </a:r>
            <a:endParaRPr lang="en-US" b="1" dirty="0"/>
          </a:p>
        </p:txBody>
      </p:sp>
      <p:sp>
        <p:nvSpPr>
          <p:cNvPr id="3" name="Object 2"/>
          <p:cNvSpPr/>
          <p:nvPr/>
        </p:nvSpPr>
        <p:spPr>
          <a:xfrm>
            <a:off x="476131" y="1523619"/>
            <a:ext cx="3618595" cy="2333042"/>
          </a:xfrm>
          <a:prstGeom prst="rect">
            <a:avLst/>
          </a:prstGeom>
          <a:noFill/>
          <a:ln w="25400">
            <a:solidFill>
              <a:srgbClr val="62A8BB"/>
            </a:solidFill>
            <a:prstDash val="solid"/>
            <a:miter lim="800000"/>
          </a:ln>
        </p:spPr>
        <p:txBody>
          <a:bodyPr/>
          <a:lstStyle/>
          <a:p>
            <a:endParaRPr lang="en-CA"/>
          </a:p>
        </p:txBody>
      </p:sp>
      <p:sp>
        <p:nvSpPr>
          <p:cNvPr id="4" name="Object 3"/>
          <p:cNvSpPr/>
          <p:nvPr/>
        </p:nvSpPr>
        <p:spPr>
          <a:xfrm>
            <a:off x="314247" y="1722318"/>
            <a:ext cx="3456711" cy="31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2442"/>
              </a:lnSpc>
              <a:buNone/>
            </a:pPr>
            <a:r>
              <a:rPr lang="en-US" sz="1938" b="1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Scale</a:t>
            </a:r>
            <a:endParaRPr lang="en-US" b="1" dirty="0"/>
          </a:p>
        </p:txBody>
      </p:sp>
      <p:sp>
        <p:nvSpPr>
          <p:cNvPr id="5" name="Object 4"/>
          <p:cNvSpPr/>
          <p:nvPr/>
        </p:nvSpPr>
        <p:spPr>
          <a:xfrm>
            <a:off x="761810" y="2225763"/>
            <a:ext cx="3456711" cy="2532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995"/>
              </a:lnSpc>
              <a:spcBef>
                <a:spcPts val="1074"/>
              </a:spcBef>
              <a:buNone/>
            </a:pPr>
            <a:r>
              <a:rPr lang="en-US" sz="1425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Records: 98,619</a:t>
            </a:r>
            <a:endParaRPr lang="en-US" dirty="0"/>
          </a:p>
        </p:txBody>
      </p:sp>
      <p:sp>
        <p:nvSpPr>
          <p:cNvPr id="6" name="Object 5"/>
          <p:cNvSpPr/>
          <p:nvPr/>
        </p:nvSpPr>
        <p:spPr>
          <a:xfrm>
            <a:off x="761810" y="2497009"/>
            <a:ext cx="3456711" cy="75972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995"/>
              </a:lnSpc>
              <a:spcBef>
                <a:spcPts val="419"/>
              </a:spcBef>
              <a:buNone/>
            </a:pPr>
            <a:r>
              <a:rPr lang="en-US" sz="1425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Flights Time Period: Full year 2022 Scope: 9,062 unique airports Coverage: Global</a:t>
            </a:r>
            <a:endParaRPr lang="en-US" dirty="0"/>
          </a:p>
        </p:txBody>
      </p:sp>
      <p:sp>
        <p:nvSpPr>
          <p:cNvPr id="7" name="Object 6"/>
          <p:cNvSpPr/>
          <p:nvPr/>
        </p:nvSpPr>
        <p:spPr>
          <a:xfrm>
            <a:off x="4285178" y="1523619"/>
            <a:ext cx="3618595" cy="2333042"/>
          </a:xfrm>
          <a:prstGeom prst="rect">
            <a:avLst/>
          </a:prstGeom>
          <a:noFill/>
          <a:ln w="25400">
            <a:solidFill>
              <a:srgbClr val="62A8BB"/>
            </a:solidFill>
            <a:prstDash val="solid"/>
            <a:miter lim="800000"/>
          </a:ln>
        </p:spPr>
        <p:txBody>
          <a:bodyPr/>
          <a:lstStyle/>
          <a:p>
            <a:endParaRPr lang="en-CA"/>
          </a:p>
        </p:txBody>
      </p:sp>
      <p:sp>
        <p:nvSpPr>
          <p:cNvPr id="8" name="Object 7"/>
          <p:cNvSpPr/>
          <p:nvPr/>
        </p:nvSpPr>
        <p:spPr>
          <a:xfrm>
            <a:off x="4285178" y="1712776"/>
            <a:ext cx="3456711" cy="31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2442"/>
              </a:lnSpc>
              <a:buNone/>
            </a:pPr>
            <a:r>
              <a:rPr lang="en-US" sz="1938" b="1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Structure</a:t>
            </a:r>
            <a:endParaRPr lang="en-US" b="1" dirty="0"/>
          </a:p>
        </p:txBody>
      </p:sp>
      <p:sp>
        <p:nvSpPr>
          <p:cNvPr id="9" name="Object 8"/>
          <p:cNvSpPr/>
          <p:nvPr/>
        </p:nvSpPr>
        <p:spPr>
          <a:xfrm>
            <a:off x="4570857" y="2189607"/>
            <a:ext cx="3456711" cy="2532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995"/>
              </a:lnSpc>
              <a:spcBef>
                <a:spcPts val="1074"/>
              </a:spcBef>
              <a:buNone/>
            </a:pPr>
            <a:r>
              <a:rPr lang="en-US" sz="1425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Original Fields: 15 core attributes</a:t>
            </a:r>
            <a:endParaRPr lang="en-US" dirty="0"/>
          </a:p>
        </p:txBody>
      </p:sp>
      <p:sp>
        <p:nvSpPr>
          <p:cNvPr id="10" name="Object 9"/>
          <p:cNvSpPr/>
          <p:nvPr/>
        </p:nvSpPr>
        <p:spPr>
          <a:xfrm>
            <a:off x="4570857" y="2497009"/>
            <a:ext cx="3456711" cy="2532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995"/>
              </a:lnSpc>
              <a:spcBef>
                <a:spcPts val="419"/>
              </a:spcBef>
              <a:buNone/>
            </a:pPr>
            <a:r>
              <a:rPr lang="en-US" sz="1425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Added Fields: 5 derived attributes</a:t>
            </a:r>
            <a:endParaRPr lang="en-US" dirty="0"/>
          </a:p>
        </p:txBody>
      </p:sp>
      <p:sp>
        <p:nvSpPr>
          <p:cNvPr id="11" name="Object 10"/>
          <p:cNvSpPr/>
          <p:nvPr/>
        </p:nvSpPr>
        <p:spPr>
          <a:xfrm>
            <a:off x="4570857" y="2804411"/>
            <a:ext cx="3456711" cy="5064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995"/>
              </a:lnSpc>
              <a:spcBef>
                <a:spcPts val="419"/>
              </a:spcBef>
              <a:buNone/>
            </a:pPr>
            <a:r>
              <a:rPr lang="en-US" sz="1425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Types: Mix of categorical, numerical, and date</a:t>
            </a:r>
            <a:endParaRPr lang="en-US" dirty="0"/>
          </a:p>
        </p:txBody>
      </p:sp>
      <p:sp>
        <p:nvSpPr>
          <p:cNvPr id="13" name="Object 12"/>
          <p:cNvSpPr/>
          <p:nvPr/>
        </p:nvSpPr>
        <p:spPr>
          <a:xfrm>
            <a:off x="8094226" y="1523619"/>
            <a:ext cx="3618595" cy="2333042"/>
          </a:xfrm>
          <a:prstGeom prst="rect">
            <a:avLst/>
          </a:prstGeom>
          <a:noFill/>
          <a:ln w="25400">
            <a:solidFill>
              <a:srgbClr val="62A8BB"/>
            </a:solidFill>
            <a:prstDash val="solid"/>
            <a:miter lim="800000"/>
          </a:ln>
        </p:spPr>
        <p:txBody>
          <a:bodyPr/>
          <a:lstStyle/>
          <a:p>
            <a:endParaRPr lang="en-CA"/>
          </a:p>
        </p:txBody>
      </p:sp>
      <p:sp>
        <p:nvSpPr>
          <p:cNvPr id="14" name="Object 13"/>
          <p:cNvSpPr/>
          <p:nvPr/>
        </p:nvSpPr>
        <p:spPr>
          <a:xfrm>
            <a:off x="8175167" y="1763618"/>
            <a:ext cx="3456711" cy="6201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2442"/>
              </a:lnSpc>
              <a:buNone/>
            </a:pPr>
            <a:r>
              <a:rPr lang="en-US" sz="1938" b="1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Flight Status Distribution</a:t>
            </a:r>
            <a:endParaRPr lang="en-US" b="1" dirty="0"/>
          </a:p>
        </p:txBody>
      </p:sp>
      <p:sp>
        <p:nvSpPr>
          <p:cNvPr id="15" name="Object 14"/>
          <p:cNvSpPr/>
          <p:nvPr/>
        </p:nvSpPr>
        <p:spPr>
          <a:xfrm>
            <a:off x="8379904" y="2225763"/>
            <a:ext cx="3456711" cy="2532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995"/>
              </a:lnSpc>
              <a:spcBef>
                <a:spcPts val="1074"/>
              </a:spcBef>
              <a:buNone/>
            </a:pPr>
            <a:r>
              <a:rPr lang="en-US" sz="1425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On-Time: 32,846</a:t>
            </a:r>
            <a:endParaRPr lang="en-US" dirty="0"/>
          </a:p>
        </p:txBody>
      </p:sp>
      <p:sp>
        <p:nvSpPr>
          <p:cNvPr id="16" name="Object 15"/>
          <p:cNvSpPr/>
          <p:nvPr/>
        </p:nvSpPr>
        <p:spPr>
          <a:xfrm>
            <a:off x="8379903" y="2506624"/>
            <a:ext cx="3456711" cy="2532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995"/>
              </a:lnSpc>
              <a:spcBef>
                <a:spcPts val="419"/>
              </a:spcBef>
              <a:buNone/>
            </a:pPr>
            <a:r>
              <a:rPr lang="en-US" sz="1425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Delayed: 32,831</a:t>
            </a:r>
            <a:endParaRPr lang="en-US" dirty="0"/>
          </a:p>
        </p:txBody>
      </p:sp>
      <p:sp>
        <p:nvSpPr>
          <p:cNvPr id="17" name="Object 16"/>
          <p:cNvSpPr/>
          <p:nvPr/>
        </p:nvSpPr>
        <p:spPr>
          <a:xfrm>
            <a:off x="8379902" y="2823697"/>
            <a:ext cx="3456711" cy="2532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995"/>
              </a:lnSpc>
              <a:spcBef>
                <a:spcPts val="419"/>
              </a:spcBef>
              <a:buNone/>
            </a:pPr>
            <a:r>
              <a:rPr lang="en-US" sz="1425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Cancelled: 32,942</a:t>
            </a:r>
            <a:endParaRPr lang="en-US" dirty="0"/>
          </a:p>
        </p:txBody>
      </p:sp>
      <p:sp>
        <p:nvSpPr>
          <p:cNvPr id="18" name="Object 17"/>
          <p:cNvSpPr/>
          <p:nvPr/>
        </p:nvSpPr>
        <p:spPr>
          <a:xfrm>
            <a:off x="476131" y="4047113"/>
            <a:ext cx="5523119" cy="2333042"/>
          </a:xfrm>
          <a:prstGeom prst="rect">
            <a:avLst/>
          </a:prstGeom>
          <a:noFill/>
          <a:ln w="25400">
            <a:solidFill>
              <a:srgbClr val="62A8BB"/>
            </a:solidFill>
            <a:prstDash val="solid"/>
            <a:miter lim="800000"/>
          </a:ln>
        </p:spPr>
        <p:txBody>
          <a:bodyPr/>
          <a:lstStyle/>
          <a:p>
            <a:endParaRPr lang="en-CA"/>
          </a:p>
        </p:txBody>
      </p:sp>
      <p:sp>
        <p:nvSpPr>
          <p:cNvPr id="19" name="Object 18"/>
          <p:cNvSpPr/>
          <p:nvPr/>
        </p:nvSpPr>
        <p:spPr>
          <a:xfrm>
            <a:off x="161884" y="4212569"/>
            <a:ext cx="5551687" cy="31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2442"/>
              </a:lnSpc>
              <a:buNone/>
            </a:pPr>
            <a:r>
              <a:rPr lang="en-US" sz="1938" b="1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Passenger Demographics</a:t>
            </a:r>
            <a:endParaRPr lang="en-US" b="1" dirty="0"/>
          </a:p>
        </p:txBody>
      </p:sp>
      <p:sp>
        <p:nvSpPr>
          <p:cNvPr id="20" name="Object 19"/>
          <p:cNvSpPr/>
          <p:nvPr/>
        </p:nvSpPr>
        <p:spPr>
          <a:xfrm>
            <a:off x="761810" y="4713101"/>
            <a:ext cx="5551687" cy="2532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995"/>
              </a:lnSpc>
              <a:spcBef>
                <a:spcPts val="1074"/>
              </a:spcBef>
              <a:buNone/>
            </a:pPr>
            <a:r>
              <a:rPr lang="en-US" sz="1425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Gender Balance: Almost equal</a:t>
            </a:r>
            <a:endParaRPr lang="en-US" dirty="0"/>
          </a:p>
        </p:txBody>
      </p:sp>
      <p:sp>
        <p:nvSpPr>
          <p:cNvPr id="22" name="Object 21"/>
          <p:cNvSpPr/>
          <p:nvPr/>
        </p:nvSpPr>
        <p:spPr>
          <a:xfrm>
            <a:off x="761810" y="4996492"/>
            <a:ext cx="5551687" cy="2532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995"/>
              </a:lnSpc>
              <a:spcBef>
                <a:spcPts val="1215"/>
              </a:spcBef>
              <a:buNone/>
            </a:pPr>
            <a:r>
              <a:rPr lang="en-US" sz="1425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 Range: 1-90 years, Avg: 45.5 years</a:t>
            </a:r>
            <a:endParaRPr lang="en-US" dirty="0"/>
          </a:p>
        </p:txBody>
      </p:sp>
      <p:sp>
        <p:nvSpPr>
          <p:cNvPr id="23" name="Object 22"/>
          <p:cNvSpPr/>
          <p:nvPr/>
        </p:nvSpPr>
        <p:spPr>
          <a:xfrm>
            <a:off x="6189702" y="4047113"/>
            <a:ext cx="5523119" cy="2333042"/>
          </a:xfrm>
          <a:prstGeom prst="rect">
            <a:avLst/>
          </a:prstGeom>
          <a:noFill/>
          <a:ln w="25400">
            <a:solidFill>
              <a:srgbClr val="62A8BB"/>
            </a:solidFill>
            <a:prstDash val="solid"/>
            <a:miter lim="800000"/>
          </a:ln>
        </p:spPr>
        <p:txBody>
          <a:bodyPr/>
          <a:lstStyle/>
          <a:p>
            <a:endParaRPr lang="en-CA"/>
          </a:p>
        </p:txBody>
      </p:sp>
      <p:sp>
        <p:nvSpPr>
          <p:cNvPr id="24" name="Object 23"/>
          <p:cNvSpPr/>
          <p:nvPr/>
        </p:nvSpPr>
        <p:spPr>
          <a:xfrm>
            <a:off x="5875455" y="4232748"/>
            <a:ext cx="5551687" cy="31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2442"/>
              </a:lnSpc>
              <a:buNone/>
            </a:pPr>
            <a:r>
              <a:rPr lang="en-US" sz="1938" b="1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Dimensions</a:t>
            </a:r>
            <a:endParaRPr lang="en-US" b="1" dirty="0"/>
          </a:p>
        </p:txBody>
      </p:sp>
      <p:sp>
        <p:nvSpPr>
          <p:cNvPr id="25" name="Object 24"/>
          <p:cNvSpPr/>
          <p:nvPr/>
        </p:nvSpPr>
        <p:spPr>
          <a:xfrm>
            <a:off x="6475381" y="4713101"/>
            <a:ext cx="5551687" cy="5064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995"/>
              </a:lnSpc>
              <a:spcBef>
                <a:spcPts val="1074"/>
              </a:spcBef>
              <a:buNone/>
            </a:pPr>
            <a:r>
              <a:rPr lang="en-US" sz="1425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Flight Information: </a:t>
            </a:r>
            <a:r>
              <a:rPr lang="en-US" sz="1425" i="1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Status, Routes</a:t>
            </a:r>
            <a:r>
              <a:rPr lang="en-US" sz="1425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Passenger Demographics:  </a:t>
            </a:r>
            <a:r>
              <a:rPr lang="en-US" sz="1425" i="1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Age, Gender,  and Nationality</a:t>
            </a:r>
            <a:endParaRPr lang="en-US" dirty="0"/>
          </a:p>
        </p:txBody>
      </p:sp>
      <p:sp>
        <p:nvSpPr>
          <p:cNvPr id="26" name="Object 25"/>
          <p:cNvSpPr/>
          <p:nvPr/>
        </p:nvSpPr>
        <p:spPr>
          <a:xfrm>
            <a:off x="6475381" y="5273745"/>
            <a:ext cx="5551687" cy="2532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995"/>
              </a:lnSpc>
              <a:spcBef>
                <a:spcPts val="419"/>
              </a:spcBef>
              <a:buNone/>
            </a:pPr>
            <a:r>
              <a:rPr lang="en-US" sz="1425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Airport Details: </a:t>
            </a:r>
            <a:r>
              <a:rPr lang="en-US" sz="1425" i="1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Names, Countries,  and Continents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bject 1">
            <a:extLst>
              <a:ext uri="{FF2B5EF4-FFF2-40B4-BE49-F238E27FC236}">
                <a16:creationId xmlns:a16="http://schemas.microsoft.com/office/drawing/2014/main" id="{2E366595-336E-815E-5F1F-AEE07B7BFCDC}"/>
              </a:ext>
            </a:extLst>
          </p:cNvPr>
          <p:cNvSpPr/>
          <p:nvPr/>
        </p:nvSpPr>
        <p:spPr>
          <a:xfrm>
            <a:off x="-1" y="0"/>
            <a:ext cx="12192001" cy="1571232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en-CA"/>
          </a:p>
        </p:txBody>
      </p:sp>
      <p:sp>
        <p:nvSpPr>
          <p:cNvPr id="38" name="Object 2">
            <a:extLst>
              <a:ext uri="{FF2B5EF4-FFF2-40B4-BE49-F238E27FC236}">
                <a16:creationId xmlns:a16="http://schemas.microsoft.com/office/drawing/2014/main" id="{5ACC0621-AD17-53CE-48A0-12B24913AEC9}"/>
              </a:ext>
            </a:extLst>
          </p:cNvPr>
          <p:cNvSpPr/>
          <p:nvPr/>
        </p:nvSpPr>
        <p:spPr>
          <a:xfrm>
            <a:off x="0" y="362901"/>
            <a:ext cx="12192000" cy="5099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016"/>
              </a:lnSpc>
              <a:buNone/>
            </a:pPr>
            <a:r>
              <a:rPr lang="en-US" sz="31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Pipeline Architecture</a:t>
            </a:r>
            <a:endParaRPr lang="en-US" b="1" dirty="0"/>
          </a:p>
        </p:txBody>
      </p:sp>
      <p:pic>
        <p:nvPicPr>
          <p:cNvPr id="39" name="Object 3">
            <a:extLst>
              <a:ext uri="{FF2B5EF4-FFF2-40B4-BE49-F238E27FC236}">
                <a16:creationId xmlns:a16="http://schemas.microsoft.com/office/drawing/2014/main" id="{4F9F84FA-9F32-709B-5039-148878EA1B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37340" y="10655811"/>
            <a:ext cx="1218895" cy="542789"/>
          </a:xfrm>
          <a:prstGeom prst="rect">
            <a:avLst/>
          </a:prstGeom>
        </p:spPr>
      </p:pic>
      <p:pic>
        <p:nvPicPr>
          <p:cNvPr id="40" name="Object 4">
            <a:extLst>
              <a:ext uri="{FF2B5EF4-FFF2-40B4-BE49-F238E27FC236}">
                <a16:creationId xmlns:a16="http://schemas.microsoft.com/office/drawing/2014/main" id="{77866D9C-BE20-482C-E56C-CEBA88C319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65708" y="9160759"/>
            <a:ext cx="3694776" cy="1923569"/>
          </a:xfrm>
          <a:prstGeom prst="rect">
            <a:avLst/>
          </a:prstGeom>
        </p:spPr>
      </p:pic>
      <p:pic>
        <p:nvPicPr>
          <p:cNvPr id="41" name="Object 5">
            <a:extLst>
              <a:ext uri="{FF2B5EF4-FFF2-40B4-BE49-F238E27FC236}">
                <a16:creationId xmlns:a16="http://schemas.microsoft.com/office/drawing/2014/main" id="{150A0361-79F3-6006-4005-1D1546DA3F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65708" y="9160759"/>
            <a:ext cx="3685253" cy="1914046"/>
          </a:xfrm>
          <a:prstGeom prst="rect">
            <a:avLst/>
          </a:prstGeom>
        </p:spPr>
      </p:pic>
      <p:sp>
        <p:nvSpPr>
          <p:cNvPr id="42" name="Object 6">
            <a:extLst>
              <a:ext uri="{FF2B5EF4-FFF2-40B4-BE49-F238E27FC236}">
                <a16:creationId xmlns:a16="http://schemas.microsoft.com/office/drawing/2014/main" id="{0CF1C4D4-4F37-D109-A611-0C9F6CAC8F3D}"/>
              </a:ext>
            </a:extLst>
          </p:cNvPr>
          <p:cNvSpPr/>
          <p:nvPr/>
        </p:nvSpPr>
        <p:spPr>
          <a:xfrm>
            <a:off x="7665708" y="9160759"/>
            <a:ext cx="919240" cy="634841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endParaRPr lang="en-US" dirty="0"/>
          </a:p>
        </p:txBody>
      </p:sp>
      <p:sp>
        <p:nvSpPr>
          <p:cNvPr id="43" name="Object 7">
            <a:extLst>
              <a:ext uri="{FF2B5EF4-FFF2-40B4-BE49-F238E27FC236}">
                <a16:creationId xmlns:a16="http://schemas.microsoft.com/office/drawing/2014/main" id="{84700484-3FDD-6578-2C5D-963C559974CB}"/>
              </a:ext>
            </a:extLst>
          </p:cNvPr>
          <p:cNvSpPr/>
          <p:nvPr/>
        </p:nvSpPr>
        <p:spPr>
          <a:xfrm>
            <a:off x="7665708" y="9795600"/>
            <a:ext cx="919240" cy="634841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endParaRPr lang="en-US" dirty="0"/>
          </a:p>
        </p:txBody>
      </p:sp>
      <p:sp>
        <p:nvSpPr>
          <p:cNvPr id="44" name="Object 8">
            <a:extLst>
              <a:ext uri="{FF2B5EF4-FFF2-40B4-BE49-F238E27FC236}">
                <a16:creationId xmlns:a16="http://schemas.microsoft.com/office/drawing/2014/main" id="{5B90F57F-4D32-702F-04D0-941878A28D7C}"/>
              </a:ext>
            </a:extLst>
          </p:cNvPr>
          <p:cNvSpPr/>
          <p:nvPr/>
        </p:nvSpPr>
        <p:spPr>
          <a:xfrm>
            <a:off x="7665708" y="10430442"/>
            <a:ext cx="919240" cy="634841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endParaRPr lang="en-US" dirty="0"/>
          </a:p>
        </p:txBody>
      </p:sp>
      <p:sp>
        <p:nvSpPr>
          <p:cNvPr id="45" name="Object 9">
            <a:extLst>
              <a:ext uri="{FF2B5EF4-FFF2-40B4-BE49-F238E27FC236}">
                <a16:creationId xmlns:a16="http://schemas.microsoft.com/office/drawing/2014/main" id="{EDDA2DFD-93FE-AB83-52E2-F9D35943D945}"/>
              </a:ext>
            </a:extLst>
          </p:cNvPr>
          <p:cNvSpPr/>
          <p:nvPr/>
        </p:nvSpPr>
        <p:spPr>
          <a:xfrm>
            <a:off x="8584948" y="9160759"/>
            <a:ext cx="919240" cy="634841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endParaRPr lang="en-US" dirty="0"/>
          </a:p>
        </p:txBody>
      </p:sp>
      <p:sp>
        <p:nvSpPr>
          <p:cNvPr id="46" name="Object 10">
            <a:extLst>
              <a:ext uri="{FF2B5EF4-FFF2-40B4-BE49-F238E27FC236}">
                <a16:creationId xmlns:a16="http://schemas.microsoft.com/office/drawing/2014/main" id="{42B6DBA0-6910-F90A-5411-A8E7963F090A}"/>
              </a:ext>
            </a:extLst>
          </p:cNvPr>
          <p:cNvSpPr/>
          <p:nvPr/>
        </p:nvSpPr>
        <p:spPr>
          <a:xfrm>
            <a:off x="8584948" y="9795600"/>
            <a:ext cx="919240" cy="634841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endParaRPr lang="en-US" dirty="0"/>
          </a:p>
        </p:txBody>
      </p:sp>
      <p:sp>
        <p:nvSpPr>
          <p:cNvPr id="47" name="Object 11">
            <a:extLst>
              <a:ext uri="{FF2B5EF4-FFF2-40B4-BE49-F238E27FC236}">
                <a16:creationId xmlns:a16="http://schemas.microsoft.com/office/drawing/2014/main" id="{0FEECB73-7701-7F12-516F-2776E206B0C1}"/>
              </a:ext>
            </a:extLst>
          </p:cNvPr>
          <p:cNvSpPr/>
          <p:nvPr/>
        </p:nvSpPr>
        <p:spPr>
          <a:xfrm>
            <a:off x="8584948" y="10430442"/>
            <a:ext cx="919240" cy="634841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endParaRPr lang="en-US" dirty="0"/>
          </a:p>
        </p:txBody>
      </p:sp>
      <p:sp>
        <p:nvSpPr>
          <p:cNvPr id="48" name="Object 12">
            <a:extLst>
              <a:ext uri="{FF2B5EF4-FFF2-40B4-BE49-F238E27FC236}">
                <a16:creationId xmlns:a16="http://schemas.microsoft.com/office/drawing/2014/main" id="{79D91AB4-0167-9287-C064-14D6E37DFCB6}"/>
              </a:ext>
            </a:extLst>
          </p:cNvPr>
          <p:cNvSpPr/>
          <p:nvPr/>
        </p:nvSpPr>
        <p:spPr>
          <a:xfrm>
            <a:off x="9504188" y="9160759"/>
            <a:ext cx="919240" cy="634841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endParaRPr lang="en-US" dirty="0"/>
          </a:p>
        </p:txBody>
      </p:sp>
      <p:sp>
        <p:nvSpPr>
          <p:cNvPr id="49" name="Object 13">
            <a:extLst>
              <a:ext uri="{FF2B5EF4-FFF2-40B4-BE49-F238E27FC236}">
                <a16:creationId xmlns:a16="http://schemas.microsoft.com/office/drawing/2014/main" id="{A5FAA3F7-5A0B-4904-5480-A2C1E042D091}"/>
              </a:ext>
            </a:extLst>
          </p:cNvPr>
          <p:cNvSpPr/>
          <p:nvPr/>
        </p:nvSpPr>
        <p:spPr>
          <a:xfrm>
            <a:off x="9504188" y="9795600"/>
            <a:ext cx="919240" cy="634841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endParaRPr lang="en-US" dirty="0"/>
          </a:p>
        </p:txBody>
      </p:sp>
      <p:sp>
        <p:nvSpPr>
          <p:cNvPr id="50" name="Object 14">
            <a:extLst>
              <a:ext uri="{FF2B5EF4-FFF2-40B4-BE49-F238E27FC236}">
                <a16:creationId xmlns:a16="http://schemas.microsoft.com/office/drawing/2014/main" id="{A469F65C-E8A7-8E5E-E8AA-8A4EB8DDD8B6}"/>
              </a:ext>
            </a:extLst>
          </p:cNvPr>
          <p:cNvSpPr/>
          <p:nvPr/>
        </p:nvSpPr>
        <p:spPr>
          <a:xfrm>
            <a:off x="9504188" y="10430442"/>
            <a:ext cx="919240" cy="634841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endParaRPr lang="en-US" dirty="0"/>
          </a:p>
        </p:txBody>
      </p:sp>
      <p:sp>
        <p:nvSpPr>
          <p:cNvPr id="51" name="Object 15">
            <a:extLst>
              <a:ext uri="{FF2B5EF4-FFF2-40B4-BE49-F238E27FC236}">
                <a16:creationId xmlns:a16="http://schemas.microsoft.com/office/drawing/2014/main" id="{D8D8A0B2-418B-F573-F99D-FD48EFD525E8}"/>
              </a:ext>
            </a:extLst>
          </p:cNvPr>
          <p:cNvSpPr/>
          <p:nvPr/>
        </p:nvSpPr>
        <p:spPr>
          <a:xfrm>
            <a:off x="10423428" y="9160759"/>
            <a:ext cx="919240" cy="634841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endParaRPr lang="en-US" dirty="0"/>
          </a:p>
        </p:txBody>
      </p:sp>
      <p:sp>
        <p:nvSpPr>
          <p:cNvPr id="52" name="Object 16">
            <a:extLst>
              <a:ext uri="{FF2B5EF4-FFF2-40B4-BE49-F238E27FC236}">
                <a16:creationId xmlns:a16="http://schemas.microsoft.com/office/drawing/2014/main" id="{76EEB27F-8150-C869-EC08-FCD12A352FA6}"/>
              </a:ext>
            </a:extLst>
          </p:cNvPr>
          <p:cNvSpPr/>
          <p:nvPr/>
        </p:nvSpPr>
        <p:spPr>
          <a:xfrm>
            <a:off x="10423428" y="9795600"/>
            <a:ext cx="919240" cy="634841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endParaRPr lang="en-US" dirty="0"/>
          </a:p>
        </p:txBody>
      </p:sp>
      <p:sp>
        <p:nvSpPr>
          <p:cNvPr id="53" name="Object 17">
            <a:extLst>
              <a:ext uri="{FF2B5EF4-FFF2-40B4-BE49-F238E27FC236}">
                <a16:creationId xmlns:a16="http://schemas.microsoft.com/office/drawing/2014/main" id="{1EF4DE79-4829-F8F1-CE78-E8B24CD2409C}"/>
              </a:ext>
            </a:extLst>
          </p:cNvPr>
          <p:cNvSpPr/>
          <p:nvPr/>
        </p:nvSpPr>
        <p:spPr>
          <a:xfrm>
            <a:off x="10423428" y="10430442"/>
            <a:ext cx="919240" cy="634841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>
              <a:buNone/>
            </a:pPr>
            <a:endParaRPr lang="en-US" dirty="0"/>
          </a:p>
        </p:txBody>
      </p:sp>
      <p:sp>
        <p:nvSpPr>
          <p:cNvPr id="54" name="Object 18">
            <a:extLst>
              <a:ext uri="{FF2B5EF4-FFF2-40B4-BE49-F238E27FC236}">
                <a16:creationId xmlns:a16="http://schemas.microsoft.com/office/drawing/2014/main" id="{A60CECA7-C860-4DAF-4002-40E8922FF52A}"/>
              </a:ext>
            </a:extLst>
          </p:cNvPr>
          <p:cNvSpPr/>
          <p:nvPr/>
        </p:nvSpPr>
        <p:spPr>
          <a:xfrm>
            <a:off x="4323269" y="6694401"/>
            <a:ext cx="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miter lim="800000"/>
          </a:ln>
        </p:spPr>
        <p:txBody>
          <a:bodyPr/>
          <a:lstStyle/>
          <a:p>
            <a:endParaRPr lang="en-CA"/>
          </a:p>
        </p:txBody>
      </p:sp>
      <p:pic>
        <p:nvPicPr>
          <p:cNvPr id="55" name="Object 19">
            <a:extLst>
              <a:ext uri="{FF2B5EF4-FFF2-40B4-BE49-F238E27FC236}">
                <a16:creationId xmlns:a16="http://schemas.microsoft.com/office/drawing/2014/main" id="{02683944-8A76-81BE-42C0-18628E4567D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56786" y="5865933"/>
            <a:ext cx="47613" cy="19045"/>
          </a:xfrm>
          <a:prstGeom prst="rect">
            <a:avLst/>
          </a:prstGeom>
        </p:spPr>
      </p:pic>
      <p:pic>
        <p:nvPicPr>
          <p:cNvPr id="56" name="Object 20">
            <a:extLst>
              <a:ext uri="{FF2B5EF4-FFF2-40B4-BE49-F238E27FC236}">
                <a16:creationId xmlns:a16="http://schemas.microsoft.com/office/drawing/2014/main" id="{E48D5892-5DDC-5C30-C966-EFF5890BCF21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50000" t="-50000" r="-50000" b="-50000"/>
          <a:stretch/>
        </p:blipFill>
        <p:spPr>
          <a:xfrm>
            <a:off x="8389427" y="2864945"/>
            <a:ext cx="4197879" cy="2789099"/>
          </a:xfrm>
          <a:prstGeom prst="rect">
            <a:avLst/>
          </a:prstGeom>
        </p:spPr>
      </p:pic>
      <p:pic>
        <p:nvPicPr>
          <p:cNvPr id="57" name="Object 21">
            <a:extLst>
              <a:ext uri="{FF2B5EF4-FFF2-40B4-BE49-F238E27FC236}">
                <a16:creationId xmlns:a16="http://schemas.microsoft.com/office/drawing/2014/main" id="{42149BC6-0D96-3089-E6F4-56403B06D00C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-25383" t="-25383" r="-25383" b="-25383"/>
          <a:stretch/>
        </p:blipFill>
        <p:spPr>
          <a:xfrm>
            <a:off x="3761434" y="4778808"/>
            <a:ext cx="6498206" cy="2261743"/>
          </a:xfrm>
          <a:prstGeom prst="rect">
            <a:avLst/>
          </a:prstGeom>
        </p:spPr>
      </p:pic>
      <p:sp>
        <p:nvSpPr>
          <p:cNvPr id="58" name="Object 22">
            <a:extLst>
              <a:ext uri="{FF2B5EF4-FFF2-40B4-BE49-F238E27FC236}">
                <a16:creationId xmlns:a16="http://schemas.microsoft.com/office/drawing/2014/main" id="{55246AD4-56CB-10DC-0036-4CE3203A2B21}"/>
              </a:ext>
            </a:extLst>
          </p:cNvPr>
          <p:cNvSpPr/>
          <p:nvPr/>
        </p:nvSpPr>
        <p:spPr>
          <a:xfrm>
            <a:off x="9149302" y="5865933"/>
            <a:ext cx="1491463" cy="87493"/>
          </a:xfrm>
          <a:prstGeom prst="rect">
            <a:avLst/>
          </a:prstGeom>
          <a:solidFill>
            <a:srgbClr val="62A8BB"/>
          </a:solidFill>
          <a:ln w="12700">
            <a:solidFill>
              <a:srgbClr val="62A8BB"/>
            </a:solidFill>
            <a:prstDash val="solid"/>
            <a:miter lim="800000"/>
          </a:ln>
        </p:spPr>
        <p:txBody>
          <a:bodyPr/>
          <a:lstStyle/>
          <a:p>
            <a:endParaRPr lang="en-CA"/>
          </a:p>
        </p:txBody>
      </p:sp>
      <p:pic>
        <p:nvPicPr>
          <p:cNvPr id="59" name="Object 23">
            <a:extLst>
              <a:ext uri="{FF2B5EF4-FFF2-40B4-BE49-F238E27FC236}">
                <a16:creationId xmlns:a16="http://schemas.microsoft.com/office/drawing/2014/main" id="{422F682D-C31D-B0CA-8483-7164AE9F37E2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-10434" t="-10434" r="-10434" b="-10434"/>
          <a:stretch/>
        </p:blipFill>
        <p:spPr>
          <a:xfrm>
            <a:off x="3199540" y="1659426"/>
            <a:ext cx="6450945" cy="1790914"/>
          </a:xfrm>
          <a:prstGeom prst="rect">
            <a:avLst/>
          </a:prstGeom>
        </p:spPr>
      </p:pic>
      <p:pic>
        <p:nvPicPr>
          <p:cNvPr id="60" name="Object 24">
            <a:extLst>
              <a:ext uri="{FF2B5EF4-FFF2-40B4-BE49-F238E27FC236}">
                <a16:creationId xmlns:a16="http://schemas.microsoft.com/office/drawing/2014/main" id="{84F14563-C855-8DB3-2019-B085181AD510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-10520" t="-10520" r="-10520" b="-10520"/>
          <a:stretch/>
        </p:blipFill>
        <p:spPr>
          <a:xfrm>
            <a:off x="3145867" y="3455824"/>
            <a:ext cx="6558290" cy="1534919"/>
          </a:xfrm>
          <a:prstGeom prst="rect">
            <a:avLst/>
          </a:prstGeom>
        </p:spPr>
      </p:pic>
      <p:pic>
        <p:nvPicPr>
          <p:cNvPr id="61" name="Object 25">
            <a:extLst>
              <a:ext uri="{FF2B5EF4-FFF2-40B4-BE49-F238E27FC236}">
                <a16:creationId xmlns:a16="http://schemas.microsoft.com/office/drawing/2014/main" id="{0594BE0C-A68F-8DB9-91E9-3AF3544B39BE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-49843" t="-50000" r="-49843" b="-50000"/>
          <a:stretch/>
        </p:blipFill>
        <p:spPr>
          <a:xfrm>
            <a:off x="895126" y="2923444"/>
            <a:ext cx="2999577" cy="2586663"/>
          </a:xfrm>
          <a:prstGeom prst="rect">
            <a:avLst/>
          </a:prstGeom>
        </p:spPr>
      </p:pic>
      <p:pic>
        <p:nvPicPr>
          <p:cNvPr id="62" name="Object 26">
            <a:extLst>
              <a:ext uri="{FF2B5EF4-FFF2-40B4-BE49-F238E27FC236}">
                <a16:creationId xmlns:a16="http://schemas.microsoft.com/office/drawing/2014/main" id="{447200A9-0804-45DB-1A73-969014D0CCB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080567" y="4175668"/>
            <a:ext cx="828468" cy="171407"/>
          </a:xfrm>
          <a:prstGeom prst="rect">
            <a:avLst/>
          </a:prstGeom>
        </p:spPr>
      </p:pic>
      <p:pic>
        <p:nvPicPr>
          <p:cNvPr id="63" name="Object 27">
            <a:extLst>
              <a:ext uri="{FF2B5EF4-FFF2-40B4-BE49-F238E27FC236}">
                <a16:creationId xmlns:a16="http://schemas.microsoft.com/office/drawing/2014/main" id="{5DEBB25C-C93C-0836-0CB9-C307536AE77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908535" y="3175793"/>
            <a:ext cx="171407" cy="828468"/>
          </a:xfrm>
          <a:prstGeom prst="rect">
            <a:avLst/>
          </a:prstGeom>
        </p:spPr>
      </p:pic>
      <p:pic>
        <p:nvPicPr>
          <p:cNvPr id="64" name="Object 28">
            <a:extLst>
              <a:ext uri="{FF2B5EF4-FFF2-40B4-BE49-F238E27FC236}">
                <a16:creationId xmlns:a16="http://schemas.microsoft.com/office/drawing/2014/main" id="{D6EE7AFB-C3F0-E082-AF70-632D778BC2B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680367" y="3175793"/>
            <a:ext cx="171407" cy="828468"/>
          </a:xfrm>
          <a:prstGeom prst="rect">
            <a:avLst/>
          </a:prstGeom>
        </p:spPr>
      </p:pic>
      <p:pic>
        <p:nvPicPr>
          <p:cNvPr id="65" name="Object 29">
            <a:extLst>
              <a:ext uri="{FF2B5EF4-FFF2-40B4-BE49-F238E27FC236}">
                <a16:creationId xmlns:a16="http://schemas.microsoft.com/office/drawing/2014/main" id="{9DFDC4E2-39D6-802B-99FB-750F73DD061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749727" y="2549979"/>
            <a:ext cx="980830" cy="171407"/>
          </a:xfrm>
          <a:prstGeom prst="rect">
            <a:avLst/>
          </a:prstGeom>
        </p:spPr>
      </p:pic>
      <p:pic>
        <p:nvPicPr>
          <p:cNvPr id="66" name="Object 30">
            <a:extLst>
              <a:ext uri="{FF2B5EF4-FFF2-40B4-BE49-F238E27FC236}">
                <a16:creationId xmlns:a16="http://schemas.microsoft.com/office/drawing/2014/main" id="{24FA1E7C-945E-FF5B-AC6F-38D7736287F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908535" y="4575618"/>
            <a:ext cx="171407" cy="609448"/>
          </a:xfrm>
          <a:prstGeom prst="rect">
            <a:avLst/>
          </a:prstGeom>
        </p:spPr>
      </p:pic>
      <p:pic>
        <p:nvPicPr>
          <p:cNvPr id="67" name="Object 31">
            <a:extLst>
              <a:ext uri="{FF2B5EF4-FFF2-40B4-BE49-F238E27FC236}">
                <a16:creationId xmlns:a16="http://schemas.microsoft.com/office/drawing/2014/main" id="{F7E24D8D-731A-1D60-65A0-39222596CB3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555823" y="4870820"/>
            <a:ext cx="171407" cy="1095101"/>
          </a:xfrm>
          <a:prstGeom prst="rect">
            <a:avLst/>
          </a:prstGeom>
        </p:spPr>
      </p:pic>
      <p:pic>
        <p:nvPicPr>
          <p:cNvPr id="68" name="Object 32">
            <a:extLst>
              <a:ext uri="{FF2B5EF4-FFF2-40B4-BE49-F238E27FC236}">
                <a16:creationId xmlns:a16="http://schemas.microsoft.com/office/drawing/2014/main" id="{839EB03E-7F52-991C-1343-A9A2358B24E9}"/>
              </a:ext>
            </a:extLst>
          </p:cNvPr>
          <p:cNvPicPr>
            <a:picLocks noChangeAspect="1"/>
          </p:cNvPicPr>
          <p:nvPr/>
        </p:nvPicPr>
        <p:blipFill>
          <a:blip r:embed="rId28"/>
          <a:srcRect l="-50000" t="-50000" r="-50000" b="-50000"/>
          <a:stretch/>
        </p:blipFill>
        <p:spPr>
          <a:xfrm>
            <a:off x="5188001" y="2407162"/>
            <a:ext cx="2098629" cy="1180131"/>
          </a:xfrm>
          <a:prstGeom prst="rect">
            <a:avLst/>
          </a:prstGeom>
        </p:spPr>
      </p:pic>
      <p:pic>
        <p:nvPicPr>
          <p:cNvPr id="69" name="Object 33">
            <a:extLst>
              <a:ext uri="{FF2B5EF4-FFF2-40B4-BE49-F238E27FC236}">
                <a16:creationId xmlns:a16="http://schemas.microsoft.com/office/drawing/2014/main" id="{055F9177-F85F-0502-2ABE-955EF69FDA8F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-5427" t="-5427" r="-5427" b="-5427"/>
          <a:stretch/>
        </p:blipFill>
        <p:spPr>
          <a:xfrm>
            <a:off x="4764193" y="6026650"/>
            <a:ext cx="1105542" cy="829636"/>
          </a:xfrm>
          <a:prstGeom prst="rect">
            <a:avLst/>
          </a:prstGeom>
        </p:spPr>
      </p:pic>
      <p:pic>
        <p:nvPicPr>
          <p:cNvPr id="70" name="Object 34">
            <a:extLst>
              <a:ext uri="{FF2B5EF4-FFF2-40B4-BE49-F238E27FC236}">
                <a16:creationId xmlns:a16="http://schemas.microsoft.com/office/drawing/2014/main" id="{B8CDCAA0-A4E2-FC22-0879-18BAFDF93C0B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-50000" t="-50000" r="-50000" b="-50000"/>
          <a:stretch/>
        </p:blipFill>
        <p:spPr>
          <a:xfrm>
            <a:off x="5226060" y="6035227"/>
            <a:ext cx="1736832" cy="611561"/>
          </a:xfrm>
          <a:prstGeom prst="rect">
            <a:avLst/>
          </a:prstGeom>
        </p:spPr>
      </p:pic>
      <p:pic>
        <p:nvPicPr>
          <p:cNvPr id="71" name="Object 35">
            <a:extLst>
              <a:ext uri="{FF2B5EF4-FFF2-40B4-BE49-F238E27FC236}">
                <a16:creationId xmlns:a16="http://schemas.microsoft.com/office/drawing/2014/main" id="{630E4B71-1114-BA24-9700-78485DB9AE58}"/>
              </a:ext>
            </a:extLst>
          </p:cNvPr>
          <p:cNvPicPr>
            <a:picLocks noChangeAspect="1"/>
          </p:cNvPicPr>
          <p:nvPr/>
        </p:nvPicPr>
        <p:blipFill>
          <a:blip r:embed="rId31"/>
          <a:srcRect l="-30000" t="-30000" r="-30000" b="-30000"/>
          <a:stretch/>
        </p:blipFill>
        <p:spPr>
          <a:xfrm>
            <a:off x="5701985" y="3513846"/>
            <a:ext cx="1212926" cy="12129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-1" y="362901"/>
            <a:ext cx="12188952" cy="5099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016"/>
              </a:lnSpc>
              <a:buNone/>
            </a:pPr>
            <a:r>
              <a:rPr lang="en-US" sz="31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Insight 1: Flight Status Trends</a:t>
            </a:r>
            <a:endParaRPr lang="en-US" b="1" dirty="0"/>
          </a:p>
        </p:txBody>
      </p:sp>
      <p:sp>
        <p:nvSpPr>
          <p:cNvPr id="3" name="Object 2"/>
          <p:cNvSpPr/>
          <p:nvPr/>
        </p:nvSpPr>
        <p:spPr>
          <a:xfrm>
            <a:off x="219020" y="5108517"/>
            <a:ext cx="2932967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On-time Performance</a:t>
            </a:r>
            <a:endParaRPr lang="en-US" b="1" dirty="0"/>
          </a:p>
        </p:txBody>
      </p:sp>
      <p:sp>
        <p:nvSpPr>
          <p:cNvPr id="4" name="Object 3"/>
          <p:cNvSpPr/>
          <p:nvPr/>
        </p:nvSpPr>
        <p:spPr>
          <a:xfrm>
            <a:off x="574406" y="5461338"/>
            <a:ext cx="2690002" cy="8528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680"/>
              </a:lnSpc>
              <a:spcBef>
                <a:spcPts val="663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On-time performance peaks in March (33.93%) and July (34.00%), indicating better operational efficiency during these months.</a:t>
            </a:r>
            <a:endParaRPr lang="en-US" dirty="0"/>
          </a:p>
        </p:txBody>
      </p:sp>
      <p:sp>
        <p:nvSpPr>
          <p:cNvPr id="5" name="Object 4"/>
          <p:cNvSpPr/>
          <p:nvPr/>
        </p:nvSpPr>
        <p:spPr>
          <a:xfrm>
            <a:off x="3018669" y="5169764"/>
            <a:ext cx="2932967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Delay Rates</a:t>
            </a:r>
            <a:endParaRPr lang="en-US" b="1" dirty="0"/>
          </a:p>
        </p:txBody>
      </p:sp>
      <p:sp>
        <p:nvSpPr>
          <p:cNvPr id="6" name="Object 5"/>
          <p:cNvSpPr/>
          <p:nvPr/>
        </p:nvSpPr>
        <p:spPr>
          <a:xfrm>
            <a:off x="3402624" y="5473869"/>
            <a:ext cx="2458680" cy="6396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680"/>
              </a:lnSpc>
              <a:spcBef>
                <a:spcPts val="663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Delay rates are highest in April (34.11%) and gradually improve through the summer months.</a:t>
            </a:r>
            <a:endParaRPr lang="en-US" dirty="0"/>
          </a:p>
        </p:txBody>
      </p:sp>
      <p:sp>
        <p:nvSpPr>
          <p:cNvPr id="7" name="Object 6"/>
          <p:cNvSpPr/>
          <p:nvPr/>
        </p:nvSpPr>
        <p:spPr>
          <a:xfrm>
            <a:off x="5861304" y="5176316"/>
            <a:ext cx="2932967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Cancellation Rates</a:t>
            </a:r>
            <a:endParaRPr lang="en-US" b="1" dirty="0"/>
          </a:p>
        </p:txBody>
      </p:sp>
      <p:sp>
        <p:nvSpPr>
          <p:cNvPr id="8" name="Object 7"/>
          <p:cNvSpPr/>
          <p:nvPr/>
        </p:nvSpPr>
        <p:spPr>
          <a:xfrm>
            <a:off x="5961159" y="5473869"/>
            <a:ext cx="2932967" cy="106608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680"/>
              </a:lnSpc>
              <a:spcBef>
                <a:spcPts val="663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Cancellation rates steadily increase throughout the year, reaching a peak of 34.10% in December, likely resulting in substantial rebooking costs and customer dissatisfaction.</a:t>
            </a:r>
            <a:endParaRPr lang="en-US" dirty="0"/>
          </a:p>
        </p:txBody>
      </p:sp>
      <p:sp>
        <p:nvSpPr>
          <p:cNvPr id="9" name="Object 8"/>
          <p:cNvSpPr/>
          <p:nvPr/>
        </p:nvSpPr>
        <p:spPr>
          <a:xfrm>
            <a:off x="8913172" y="5108517"/>
            <a:ext cx="2932967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Winter Operations</a:t>
            </a:r>
            <a:endParaRPr lang="en-US" b="1" dirty="0"/>
          </a:p>
        </p:txBody>
      </p:sp>
      <p:sp>
        <p:nvSpPr>
          <p:cNvPr id="10" name="Object 9"/>
          <p:cNvSpPr/>
          <p:nvPr/>
        </p:nvSpPr>
        <p:spPr>
          <a:xfrm>
            <a:off x="9040014" y="5419657"/>
            <a:ext cx="2806124" cy="12793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680"/>
              </a:lnSpc>
              <a:spcBef>
                <a:spcPts val="663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winter months pose significant operational challenges, with both delays and cancellations tending to increase during this period, directly impacting the bottom line.</a:t>
            </a:r>
            <a:endParaRPr lang="en-US" dirty="0"/>
          </a:p>
        </p:txBody>
      </p:sp>
      <p:sp>
        <p:nvSpPr>
          <p:cNvPr id="11" name="Object 10"/>
          <p:cNvSpPr/>
          <p:nvPr/>
        </p:nvSpPr>
        <p:spPr>
          <a:xfrm>
            <a:off x="7450430" y="1634319"/>
            <a:ext cx="4317124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Number of Flights by Status</a:t>
            </a:r>
            <a:endParaRPr lang="en-US" dirty="0"/>
          </a:p>
        </p:txBody>
      </p:sp>
      <p:pic>
        <p:nvPicPr>
          <p:cNvPr id="12" name="Object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210" y="1780730"/>
            <a:ext cx="4305611" cy="3249175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4528" y="-28568"/>
            <a:ext cx="447898" cy="1002985"/>
          </a:xfrm>
          <a:prstGeom prst="rect">
            <a:avLst/>
          </a:prstGeom>
        </p:spPr>
      </p:pic>
      <p:pic>
        <p:nvPicPr>
          <p:cNvPr id="14" name="Object 13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42764" y="1552187"/>
            <a:ext cx="6507011" cy="321557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9D07BA6-A91F-B7AB-062B-A9E8DB2C42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8625" y="1708322"/>
            <a:ext cx="1219977" cy="5959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016"/>
              </a:lnSpc>
              <a:buNone/>
            </a:pPr>
            <a:r>
              <a:rPr lang="en-US" sz="3188" b="1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Insight 2: Geographic Route Optimization</a:t>
            </a:r>
            <a:endParaRPr lang="en-US" sz="3200" b="1" dirty="0"/>
          </a:p>
        </p:txBody>
      </p:sp>
      <p:sp>
        <p:nvSpPr>
          <p:cNvPr id="17" name="Object 16"/>
          <p:cNvSpPr/>
          <p:nvPr/>
        </p:nvSpPr>
        <p:spPr>
          <a:xfrm>
            <a:off x="0" y="5637390"/>
            <a:ext cx="12188952" cy="1218895"/>
          </a:xfrm>
          <a:prstGeom prst="rect">
            <a:avLst/>
          </a:prstGeom>
          <a:solidFill>
            <a:srgbClr val="F5F5F5"/>
          </a:solidFill>
        </p:spPr>
        <p:txBody>
          <a:bodyPr/>
          <a:lstStyle/>
          <a:p>
            <a:endParaRPr lang="en-CA"/>
          </a:p>
        </p:txBody>
      </p:sp>
      <p:sp>
        <p:nvSpPr>
          <p:cNvPr id="18" name="Object 17"/>
          <p:cNvSpPr/>
          <p:nvPr/>
        </p:nvSpPr>
        <p:spPr>
          <a:xfrm>
            <a:off x="1678495" y="5954315"/>
            <a:ext cx="8831961" cy="5758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2268"/>
              </a:lnSpc>
              <a:buNone/>
            </a:pPr>
            <a:r>
              <a:rPr lang="en-US" sz="180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North America's dominance in connectivity could influence decisions related to market focus, resource allocation, or transportation hubs.</a:t>
            </a:r>
            <a:endParaRPr lang="en-US" dirty="0"/>
          </a:p>
        </p:txBody>
      </p:sp>
      <p:pic>
        <p:nvPicPr>
          <p:cNvPr id="19" name="Object 16">
            <a:extLst>
              <a:ext uri="{FF2B5EF4-FFF2-40B4-BE49-F238E27FC236}">
                <a16:creationId xmlns:a16="http://schemas.microsoft.com/office/drawing/2014/main" id="{F6015D26-47FE-D763-2FE7-487428F38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9250" y="1618845"/>
            <a:ext cx="5904024" cy="3637640"/>
          </a:xfrm>
          <a:prstGeom prst="rect">
            <a:avLst/>
          </a:prstGeom>
        </p:spPr>
      </p:pic>
      <p:pic>
        <p:nvPicPr>
          <p:cNvPr id="20" name="Object 3">
            <a:extLst>
              <a:ext uri="{FF2B5EF4-FFF2-40B4-BE49-F238E27FC236}">
                <a16:creationId xmlns:a16="http://schemas.microsoft.com/office/drawing/2014/main" id="{1C1DEE8B-7EE9-B942-B33A-129BCDFB5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679" y="1618845"/>
            <a:ext cx="5904023" cy="3637641"/>
          </a:xfrm>
          <a:prstGeom prst="rect">
            <a:avLst/>
          </a:prstGeom>
        </p:spPr>
      </p:pic>
      <p:pic>
        <p:nvPicPr>
          <p:cNvPr id="21" name="Object 4">
            <a:extLst>
              <a:ext uri="{FF2B5EF4-FFF2-40B4-BE49-F238E27FC236}">
                <a16:creationId xmlns:a16="http://schemas.microsoft.com/office/drawing/2014/main" id="{6BEF82C3-A97B-A75B-F820-61E193FD8A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42209" y="1904524"/>
            <a:ext cx="657061" cy="657061"/>
          </a:xfrm>
          <a:prstGeom prst="rect">
            <a:avLst/>
          </a:prstGeom>
        </p:spPr>
      </p:pic>
      <p:sp>
        <p:nvSpPr>
          <p:cNvPr id="22" name="Object 5">
            <a:extLst>
              <a:ext uri="{FF2B5EF4-FFF2-40B4-BE49-F238E27FC236}">
                <a16:creationId xmlns:a16="http://schemas.microsoft.com/office/drawing/2014/main" id="{F86FF937-AC87-368B-29AB-0AC4744E21FD}"/>
              </a:ext>
            </a:extLst>
          </p:cNvPr>
          <p:cNvSpPr/>
          <p:nvPr/>
        </p:nvSpPr>
        <p:spPr>
          <a:xfrm>
            <a:off x="5266960" y="2153451"/>
            <a:ext cx="398045" cy="14388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134"/>
              </a:lnSpc>
              <a:buNone/>
            </a:pPr>
            <a:r>
              <a:rPr lang="en-US" sz="9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32,033</a:t>
            </a:r>
            <a:endParaRPr lang="en-US" dirty="0"/>
          </a:p>
        </p:txBody>
      </p:sp>
      <p:pic>
        <p:nvPicPr>
          <p:cNvPr id="23" name="Object 6">
            <a:extLst>
              <a:ext uri="{FF2B5EF4-FFF2-40B4-BE49-F238E27FC236}">
                <a16:creationId xmlns:a16="http://schemas.microsoft.com/office/drawing/2014/main" id="{F1BD47C9-0FB5-8598-7CD1-11DAB9FAC6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94778" y="2409222"/>
            <a:ext cx="571357" cy="580880"/>
          </a:xfrm>
          <a:prstGeom prst="rect">
            <a:avLst/>
          </a:prstGeom>
        </p:spPr>
      </p:pic>
      <p:sp>
        <p:nvSpPr>
          <p:cNvPr id="24" name="Object 7">
            <a:extLst>
              <a:ext uri="{FF2B5EF4-FFF2-40B4-BE49-F238E27FC236}">
                <a16:creationId xmlns:a16="http://schemas.microsoft.com/office/drawing/2014/main" id="{4FE347AB-4323-79BB-FD05-5AEAC7D0D75D}"/>
              </a:ext>
            </a:extLst>
          </p:cNvPr>
          <p:cNvSpPr/>
          <p:nvPr/>
        </p:nvSpPr>
        <p:spPr>
          <a:xfrm>
            <a:off x="3786669" y="2620059"/>
            <a:ext cx="387571" cy="14388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134"/>
              </a:lnSpc>
              <a:buNone/>
            </a:pPr>
            <a:r>
              <a:rPr lang="en-US" sz="9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18,637</a:t>
            </a:r>
            <a:endParaRPr lang="en-US" dirty="0"/>
          </a:p>
        </p:txBody>
      </p:sp>
      <p:pic>
        <p:nvPicPr>
          <p:cNvPr id="25" name="Object 8">
            <a:extLst>
              <a:ext uri="{FF2B5EF4-FFF2-40B4-BE49-F238E27FC236}">
                <a16:creationId xmlns:a16="http://schemas.microsoft.com/office/drawing/2014/main" id="{BDCC0839-8985-BABE-9AE7-D5AC9342E93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80646" y="2885353"/>
            <a:ext cx="552312" cy="561835"/>
          </a:xfrm>
          <a:prstGeom prst="rect">
            <a:avLst/>
          </a:prstGeom>
        </p:spPr>
      </p:pic>
      <p:sp>
        <p:nvSpPr>
          <p:cNvPr id="26" name="Object 9">
            <a:extLst>
              <a:ext uri="{FF2B5EF4-FFF2-40B4-BE49-F238E27FC236}">
                <a16:creationId xmlns:a16="http://schemas.microsoft.com/office/drawing/2014/main" id="{AAE3C29C-8A4D-EC4A-4B68-C0A3763B3D94}"/>
              </a:ext>
            </a:extLst>
          </p:cNvPr>
          <p:cNvSpPr/>
          <p:nvPr/>
        </p:nvSpPr>
        <p:spPr>
          <a:xfrm>
            <a:off x="3262925" y="3086668"/>
            <a:ext cx="387571" cy="14388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134"/>
              </a:lnSpc>
              <a:buNone/>
            </a:pPr>
            <a:r>
              <a:rPr lang="en-US" sz="9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13,866</a:t>
            </a:r>
            <a:endParaRPr lang="en-US" dirty="0"/>
          </a:p>
        </p:txBody>
      </p:sp>
      <p:pic>
        <p:nvPicPr>
          <p:cNvPr id="27" name="Object 10">
            <a:extLst>
              <a:ext uri="{FF2B5EF4-FFF2-40B4-BE49-F238E27FC236}">
                <a16:creationId xmlns:a16="http://schemas.microsoft.com/office/drawing/2014/main" id="{C75B407E-78B6-169E-1987-BB769D92EF3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042472" y="3385291"/>
            <a:ext cx="495176" cy="495176"/>
          </a:xfrm>
          <a:prstGeom prst="rect">
            <a:avLst/>
          </a:prstGeom>
        </p:spPr>
      </p:pic>
      <p:sp>
        <p:nvSpPr>
          <p:cNvPr id="28" name="Object 11">
            <a:extLst>
              <a:ext uri="{FF2B5EF4-FFF2-40B4-BE49-F238E27FC236}">
                <a16:creationId xmlns:a16="http://schemas.microsoft.com/office/drawing/2014/main" id="{D59477A5-A9DA-1930-6AF0-499193D81A34}"/>
              </a:ext>
            </a:extLst>
          </p:cNvPr>
          <p:cNvSpPr/>
          <p:nvPr/>
        </p:nvSpPr>
        <p:spPr>
          <a:xfrm>
            <a:off x="3156748" y="3578273"/>
            <a:ext cx="257111" cy="959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756"/>
              </a:lnSpc>
              <a:buNone/>
            </a:pPr>
            <a:r>
              <a:rPr lang="en-US" sz="6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12,335</a:t>
            </a:r>
            <a:endParaRPr lang="en-US" dirty="0"/>
          </a:p>
        </p:txBody>
      </p:sp>
      <p:pic>
        <p:nvPicPr>
          <p:cNvPr id="29" name="Object 12">
            <a:extLst>
              <a:ext uri="{FF2B5EF4-FFF2-40B4-BE49-F238E27FC236}">
                <a16:creationId xmlns:a16="http://schemas.microsoft.com/office/drawing/2014/main" id="{61D7FFC8-A0DD-74FC-2FA6-48F1343D5C1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909159" y="3851900"/>
            <a:ext cx="476131" cy="466608"/>
          </a:xfrm>
          <a:prstGeom prst="rect">
            <a:avLst/>
          </a:prstGeom>
        </p:spPr>
      </p:pic>
      <p:sp>
        <p:nvSpPr>
          <p:cNvPr id="30" name="Object 13">
            <a:extLst>
              <a:ext uri="{FF2B5EF4-FFF2-40B4-BE49-F238E27FC236}">
                <a16:creationId xmlns:a16="http://schemas.microsoft.com/office/drawing/2014/main" id="{4FA4A7EB-8E80-09F8-427A-14C7C66D3401}"/>
              </a:ext>
            </a:extLst>
          </p:cNvPr>
          <p:cNvSpPr/>
          <p:nvPr/>
        </p:nvSpPr>
        <p:spPr>
          <a:xfrm>
            <a:off x="3018670" y="4035358"/>
            <a:ext cx="247588" cy="959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756"/>
              </a:lnSpc>
              <a:buNone/>
            </a:pPr>
            <a:r>
              <a:rPr lang="en-US" sz="6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11,030</a:t>
            </a:r>
            <a:endParaRPr lang="en-US" dirty="0"/>
          </a:p>
        </p:txBody>
      </p:sp>
      <p:pic>
        <p:nvPicPr>
          <p:cNvPr id="31" name="Object 14">
            <a:extLst>
              <a:ext uri="{FF2B5EF4-FFF2-40B4-BE49-F238E27FC236}">
                <a16:creationId xmlns:a16="http://schemas.microsoft.com/office/drawing/2014/main" id="{00016D07-8092-C64C-62B5-187310197A4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890111" y="4337553"/>
            <a:ext cx="438040" cy="428518"/>
          </a:xfrm>
          <a:prstGeom prst="rect">
            <a:avLst/>
          </a:prstGeom>
        </p:spPr>
      </p:pic>
      <p:sp>
        <p:nvSpPr>
          <p:cNvPr id="32" name="Object 15">
            <a:extLst>
              <a:ext uri="{FF2B5EF4-FFF2-40B4-BE49-F238E27FC236}">
                <a16:creationId xmlns:a16="http://schemas.microsoft.com/office/drawing/2014/main" id="{93DCC96F-C924-54D4-6D93-752A25C55E29}"/>
              </a:ext>
            </a:extLst>
          </p:cNvPr>
          <p:cNvSpPr/>
          <p:nvPr/>
        </p:nvSpPr>
        <p:spPr>
          <a:xfrm>
            <a:off x="2980580" y="4501967"/>
            <a:ext cx="247588" cy="959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756"/>
              </a:lnSpc>
              <a:buNone/>
            </a:pPr>
            <a:r>
              <a:rPr lang="en-US" sz="6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10,718</a:t>
            </a:r>
            <a:endParaRPr lang="en-US" dirty="0"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E43F577E-00C2-CB86-B1B1-444C8D99428E}"/>
              </a:ext>
            </a:extLst>
          </p:cNvPr>
          <p:cNvSpPr/>
          <p:nvPr/>
        </p:nvSpPr>
        <p:spPr>
          <a:xfrm>
            <a:off x="7346876" y="1472749"/>
            <a:ext cx="3980455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10 Country connection by Frequency</a:t>
            </a:r>
            <a:endParaRPr lang="en-US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3823FE3-78A0-5264-658C-3815E2F83EC3}"/>
              </a:ext>
            </a:extLst>
          </p:cNvPr>
          <p:cNvSpPr/>
          <p:nvPr/>
        </p:nvSpPr>
        <p:spPr>
          <a:xfrm>
            <a:off x="1279371" y="1468694"/>
            <a:ext cx="3980455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Continental Connectivity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17655936-BC0D-FE6C-191B-BBAAD74DD8F9}"/>
              </a:ext>
            </a:extLst>
          </p:cNvPr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016"/>
              </a:lnSpc>
              <a:buNone/>
            </a:pPr>
            <a:r>
              <a:rPr lang="en-US" sz="3200" b="1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Top 3 Countries Connections</a:t>
            </a:r>
            <a:endParaRPr lang="en-US" b="1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47E31370-2042-6A3C-E515-F40B0397B2BD}"/>
              </a:ext>
            </a:extLst>
          </p:cNvPr>
          <p:cNvSpPr/>
          <p:nvPr/>
        </p:nvSpPr>
        <p:spPr>
          <a:xfrm>
            <a:off x="476131" y="1523619"/>
            <a:ext cx="3618595" cy="4018545"/>
          </a:xfrm>
          <a:prstGeom prst="rect">
            <a:avLst/>
          </a:prstGeom>
          <a:solidFill>
            <a:srgbClr val="F0B356"/>
          </a:solidFill>
        </p:spPr>
        <p:txBody>
          <a:bodyPr/>
          <a:lstStyle/>
          <a:p>
            <a:endParaRPr lang="en-CA"/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CD7FB92D-B5F9-536A-347D-03B6920D36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046" t="19804" r="33046" b="19804"/>
          <a:stretch/>
        </p:blipFill>
        <p:spPr>
          <a:xfrm>
            <a:off x="476131" y="1523619"/>
            <a:ext cx="3618595" cy="4018545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1C0C6AFA-88DD-9064-B25E-1E5CDAC21184}"/>
              </a:ext>
            </a:extLst>
          </p:cNvPr>
          <p:cNvSpPr/>
          <p:nvPr/>
        </p:nvSpPr>
        <p:spPr>
          <a:xfrm>
            <a:off x="295201" y="5681432"/>
            <a:ext cx="3980455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b="1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United States</a:t>
            </a:r>
            <a:endParaRPr lang="en-US" b="1" dirty="0"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F837494A-71C3-F7FA-2D2E-241F221F1ADF}"/>
              </a:ext>
            </a:extLst>
          </p:cNvPr>
          <p:cNvSpPr/>
          <p:nvPr/>
        </p:nvSpPr>
        <p:spPr>
          <a:xfrm>
            <a:off x="295201" y="5997613"/>
            <a:ext cx="3980455" cy="426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  <a:buNone/>
            </a:pP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United States is the country with the most routes, involved in 22,104 connections.</a:t>
            </a:r>
            <a:endParaRPr lang="en-US" dirty="0"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5698AE03-8518-1516-C4B8-64039AA013BB}"/>
              </a:ext>
            </a:extLst>
          </p:cNvPr>
          <p:cNvSpPr/>
          <p:nvPr/>
        </p:nvSpPr>
        <p:spPr>
          <a:xfrm>
            <a:off x="8094226" y="1523619"/>
            <a:ext cx="3618595" cy="4018545"/>
          </a:xfrm>
          <a:prstGeom prst="rect">
            <a:avLst/>
          </a:prstGeom>
          <a:solidFill>
            <a:srgbClr val="F0B356"/>
          </a:solidFill>
        </p:spPr>
        <p:txBody>
          <a:bodyPr/>
          <a:lstStyle/>
          <a:p>
            <a:endParaRPr lang="en-CA"/>
          </a:p>
        </p:txBody>
      </p:sp>
      <p:pic>
        <p:nvPicPr>
          <p:cNvPr id="8" name="Object 7">
            <a:extLst>
              <a:ext uri="{FF2B5EF4-FFF2-40B4-BE49-F238E27FC236}">
                <a16:creationId xmlns:a16="http://schemas.microsoft.com/office/drawing/2014/main" id="{B022904A-5AC9-1251-49FD-9BCA42FC0C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77" b="5577"/>
          <a:stretch/>
        </p:blipFill>
        <p:spPr>
          <a:xfrm>
            <a:off x="8094226" y="1523619"/>
            <a:ext cx="3618595" cy="4018545"/>
          </a:xfrm>
          <a:prstGeom prst="rect">
            <a:avLst/>
          </a:prstGeom>
        </p:spPr>
      </p:pic>
      <p:sp>
        <p:nvSpPr>
          <p:cNvPr id="9" name="Object 8">
            <a:extLst>
              <a:ext uri="{FF2B5EF4-FFF2-40B4-BE49-F238E27FC236}">
                <a16:creationId xmlns:a16="http://schemas.microsoft.com/office/drawing/2014/main" id="{E028FCBB-443F-E128-0257-1E3D82DDAC9D}"/>
              </a:ext>
            </a:extLst>
          </p:cNvPr>
          <p:cNvSpPr/>
          <p:nvPr/>
        </p:nvSpPr>
        <p:spPr>
          <a:xfrm>
            <a:off x="7913296" y="5731888"/>
            <a:ext cx="3980455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b="1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Canada</a:t>
            </a:r>
            <a:endParaRPr lang="en-US" b="1" dirty="0"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B7ADE9DB-029E-A2DA-5303-0766892F651E}"/>
              </a:ext>
            </a:extLst>
          </p:cNvPr>
          <p:cNvSpPr/>
          <p:nvPr/>
        </p:nvSpPr>
        <p:spPr>
          <a:xfrm>
            <a:off x="8084704" y="5997613"/>
            <a:ext cx="3809047" cy="426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  <a:buNone/>
            </a:pP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Canada ranks third among all countries with 5,524 routes.</a:t>
            </a:r>
            <a:endParaRPr lang="en-US" dirty="0"/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74EB5CF8-F9D2-D2E2-F052-09568C18519F}"/>
              </a:ext>
            </a:extLst>
          </p:cNvPr>
          <p:cNvSpPr/>
          <p:nvPr/>
        </p:nvSpPr>
        <p:spPr>
          <a:xfrm>
            <a:off x="4285178" y="1523619"/>
            <a:ext cx="3618595" cy="4018545"/>
          </a:xfrm>
          <a:prstGeom prst="rect">
            <a:avLst/>
          </a:prstGeom>
          <a:solidFill>
            <a:srgbClr val="F0B356"/>
          </a:solidFill>
        </p:spPr>
        <p:txBody>
          <a:bodyPr/>
          <a:lstStyle/>
          <a:p>
            <a:endParaRPr lang="en-CA"/>
          </a:p>
        </p:txBody>
      </p:sp>
      <p:pic>
        <p:nvPicPr>
          <p:cNvPr id="12" name="Object 11">
            <a:extLst>
              <a:ext uri="{FF2B5EF4-FFF2-40B4-BE49-F238E27FC236}">
                <a16:creationId xmlns:a16="http://schemas.microsoft.com/office/drawing/2014/main" id="{AE73C1E6-B7C1-6281-0679-2F4FBC9156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183" t="19804" r="32183" b="19804"/>
          <a:stretch/>
        </p:blipFill>
        <p:spPr>
          <a:xfrm>
            <a:off x="4285178" y="1523619"/>
            <a:ext cx="3618595" cy="4018545"/>
          </a:xfrm>
          <a:prstGeom prst="rect">
            <a:avLst/>
          </a:prstGeom>
        </p:spPr>
      </p:pic>
      <p:sp>
        <p:nvSpPr>
          <p:cNvPr id="13" name="Object 12">
            <a:extLst>
              <a:ext uri="{FF2B5EF4-FFF2-40B4-BE49-F238E27FC236}">
                <a16:creationId xmlns:a16="http://schemas.microsoft.com/office/drawing/2014/main" id="{9F1737A0-FB75-8DB2-B8A1-9F2697EC8266}"/>
              </a:ext>
            </a:extLst>
          </p:cNvPr>
          <p:cNvSpPr/>
          <p:nvPr/>
        </p:nvSpPr>
        <p:spPr>
          <a:xfrm>
            <a:off x="4104249" y="5681432"/>
            <a:ext cx="3980455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b="1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Australia</a:t>
            </a:r>
            <a:endParaRPr lang="en-US" b="1" dirty="0"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F3E36290-C9B3-CAD5-6D24-FA0D4136F393}"/>
              </a:ext>
            </a:extLst>
          </p:cNvPr>
          <p:cNvSpPr/>
          <p:nvPr/>
        </p:nvSpPr>
        <p:spPr>
          <a:xfrm>
            <a:off x="4275656" y="5997613"/>
            <a:ext cx="3637640" cy="426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  <a:buNone/>
            </a:pP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Australia is the second-highest country with 6,370 routes.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474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016"/>
              </a:lnSpc>
              <a:buNone/>
            </a:pPr>
            <a:r>
              <a:rPr lang="en-US" sz="31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Insight 3: Passenger Demographics</a:t>
            </a:r>
            <a:endParaRPr lang="en-US" b="1" dirty="0"/>
          </a:p>
        </p:txBody>
      </p:sp>
      <p:sp>
        <p:nvSpPr>
          <p:cNvPr id="3" name="Object 2"/>
          <p:cNvSpPr/>
          <p:nvPr/>
        </p:nvSpPr>
        <p:spPr>
          <a:xfrm>
            <a:off x="199975" y="1472435"/>
            <a:ext cx="6075431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10 Nationalities</a:t>
            </a:r>
            <a:endParaRPr lang="en-US" dirty="0"/>
          </a:p>
        </p:txBody>
      </p:sp>
      <p:sp>
        <p:nvSpPr>
          <p:cNvPr id="17" name="Object 16"/>
          <p:cNvSpPr/>
          <p:nvPr/>
        </p:nvSpPr>
        <p:spPr>
          <a:xfrm>
            <a:off x="0" y="4780355"/>
            <a:ext cx="12188952" cy="2075931"/>
          </a:xfrm>
          <a:prstGeom prst="rect">
            <a:avLst/>
          </a:prstGeom>
          <a:solidFill>
            <a:srgbClr val="F5F5F5"/>
          </a:solidFill>
        </p:spPr>
        <p:txBody>
          <a:bodyPr/>
          <a:lstStyle/>
          <a:p>
            <a:endParaRPr lang="en-CA"/>
          </a:p>
        </p:txBody>
      </p:sp>
      <p:sp>
        <p:nvSpPr>
          <p:cNvPr id="18" name="Object 17"/>
          <p:cNvSpPr/>
          <p:nvPr/>
        </p:nvSpPr>
        <p:spPr>
          <a:xfrm>
            <a:off x="581772" y="5316735"/>
            <a:ext cx="11025407" cy="1439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2268"/>
              </a:lnSpc>
              <a:buNone/>
            </a:pPr>
            <a:r>
              <a:rPr lang="en-US" sz="180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data shows a notable dominance of Asian and European nationalities among travelers, with the top four countries being from Asia. </a:t>
            </a:r>
            <a:endParaRPr lang="en-US" dirty="0"/>
          </a:p>
        </p:txBody>
      </p:sp>
      <p:pic>
        <p:nvPicPr>
          <p:cNvPr id="19" name="Object 3">
            <a:extLst>
              <a:ext uri="{FF2B5EF4-FFF2-40B4-BE49-F238E27FC236}">
                <a16:creationId xmlns:a16="http://schemas.microsoft.com/office/drawing/2014/main" id="{A7A8C8AF-BB14-96DF-2322-532CAAF5A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382" y="1809297"/>
            <a:ext cx="5904024" cy="2780605"/>
          </a:xfrm>
          <a:prstGeom prst="rect">
            <a:avLst/>
          </a:prstGeom>
        </p:spPr>
      </p:pic>
      <p:sp>
        <p:nvSpPr>
          <p:cNvPr id="25" name="Object 4">
            <a:extLst>
              <a:ext uri="{FF2B5EF4-FFF2-40B4-BE49-F238E27FC236}">
                <a16:creationId xmlns:a16="http://schemas.microsoft.com/office/drawing/2014/main" id="{F665F6C0-3AEC-D766-2C87-8D63C6D5DEA5}"/>
              </a:ext>
            </a:extLst>
          </p:cNvPr>
          <p:cNvSpPr/>
          <p:nvPr/>
        </p:nvSpPr>
        <p:spPr>
          <a:xfrm>
            <a:off x="5656438" y="1478907"/>
            <a:ext cx="6075431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Gender</a:t>
            </a:r>
            <a:endParaRPr lang="en-US" dirty="0"/>
          </a:p>
        </p:txBody>
      </p:sp>
      <p:pic>
        <p:nvPicPr>
          <p:cNvPr id="26" name="Object 5">
            <a:extLst>
              <a:ext uri="{FF2B5EF4-FFF2-40B4-BE49-F238E27FC236}">
                <a16:creationId xmlns:a16="http://schemas.microsoft.com/office/drawing/2014/main" id="{F67B7D6A-BA87-5CD7-5C71-2D1E740099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2776" y="2426551"/>
            <a:ext cx="676106" cy="1323644"/>
          </a:xfrm>
          <a:prstGeom prst="rect">
            <a:avLst/>
          </a:prstGeom>
        </p:spPr>
      </p:pic>
      <p:sp>
        <p:nvSpPr>
          <p:cNvPr id="27" name="Object 6">
            <a:extLst>
              <a:ext uri="{FF2B5EF4-FFF2-40B4-BE49-F238E27FC236}">
                <a16:creationId xmlns:a16="http://schemas.microsoft.com/office/drawing/2014/main" id="{16BED50A-3AB7-278F-51D7-102C8104242E}"/>
              </a:ext>
            </a:extLst>
          </p:cNvPr>
          <p:cNvSpPr/>
          <p:nvPr/>
        </p:nvSpPr>
        <p:spPr>
          <a:xfrm>
            <a:off x="6698053" y="3203200"/>
            <a:ext cx="1309360" cy="4509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3554"/>
              </a:lnSpc>
              <a:buNone/>
            </a:pPr>
            <a:r>
              <a:rPr lang="en-US" sz="282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49.71%</a:t>
            </a:r>
            <a:endParaRPr lang="en-US" dirty="0"/>
          </a:p>
        </p:txBody>
      </p:sp>
      <p:sp>
        <p:nvSpPr>
          <p:cNvPr id="28" name="Object 7">
            <a:extLst>
              <a:ext uri="{FF2B5EF4-FFF2-40B4-BE49-F238E27FC236}">
                <a16:creationId xmlns:a16="http://schemas.microsoft.com/office/drawing/2014/main" id="{61392D95-5635-7FA6-5ADB-36DF684FF9BB}"/>
              </a:ext>
            </a:extLst>
          </p:cNvPr>
          <p:cNvSpPr/>
          <p:nvPr/>
        </p:nvSpPr>
        <p:spPr>
          <a:xfrm>
            <a:off x="7307977" y="3049052"/>
            <a:ext cx="670392" cy="2014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588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Female</a:t>
            </a:r>
            <a:endParaRPr lang="en-US" dirty="0"/>
          </a:p>
        </p:txBody>
      </p:sp>
      <p:pic>
        <p:nvPicPr>
          <p:cNvPr id="29" name="Object 8">
            <a:extLst>
              <a:ext uri="{FF2B5EF4-FFF2-40B4-BE49-F238E27FC236}">
                <a16:creationId xmlns:a16="http://schemas.microsoft.com/office/drawing/2014/main" id="{2370E72B-3EC2-75D5-F80A-876EFC32E3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72727" y="2426455"/>
            <a:ext cx="685629" cy="1323644"/>
          </a:xfrm>
          <a:prstGeom prst="rect">
            <a:avLst/>
          </a:prstGeom>
        </p:spPr>
      </p:pic>
      <p:sp>
        <p:nvSpPr>
          <p:cNvPr id="30" name="Object 9">
            <a:extLst>
              <a:ext uri="{FF2B5EF4-FFF2-40B4-BE49-F238E27FC236}">
                <a16:creationId xmlns:a16="http://schemas.microsoft.com/office/drawing/2014/main" id="{3D1FE884-9E0B-B13A-5457-CFA6DDE609AD}"/>
              </a:ext>
            </a:extLst>
          </p:cNvPr>
          <p:cNvSpPr/>
          <p:nvPr/>
        </p:nvSpPr>
        <p:spPr>
          <a:xfrm>
            <a:off x="9377561" y="2722993"/>
            <a:ext cx="1382684" cy="4509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3554"/>
              </a:lnSpc>
              <a:buNone/>
            </a:pPr>
            <a:r>
              <a:rPr lang="en-US" sz="282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50.29%</a:t>
            </a:r>
            <a:endParaRPr lang="en-US" dirty="0"/>
          </a:p>
        </p:txBody>
      </p:sp>
      <p:sp>
        <p:nvSpPr>
          <p:cNvPr id="31" name="Object 10">
            <a:extLst>
              <a:ext uri="{FF2B5EF4-FFF2-40B4-BE49-F238E27FC236}">
                <a16:creationId xmlns:a16="http://schemas.microsoft.com/office/drawing/2014/main" id="{703CA8A1-10D2-8965-867B-6502208EC694}"/>
              </a:ext>
            </a:extLst>
          </p:cNvPr>
          <p:cNvSpPr/>
          <p:nvPr/>
        </p:nvSpPr>
        <p:spPr>
          <a:xfrm>
            <a:off x="9420413" y="2568846"/>
            <a:ext cx="439945" cy="2014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588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Male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016"/>
              </a:lnSpc>
              <a:buNone/>
            </a:pPr>
            <a:r>
              <a:rPr lang="en-US" sz="31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Insight 3: Passenger Demographics</a:t>
            </a:r>
            <a:endParaRPr lang="en-US" b="1" dirty="0"/>
          </a:p>
        </p:txBody>
      </p:sp>
      <p:sp>
        <p:nvSpPr>
          <p:cNvPr id="5" name="Object 4"/>
          <p:cNvSpPr/>
          <p:nvPr/>
        </p:nvSpPr>
        <p:spPr>
          <a:xfrm>
            <a:off x="199975" y="1452533"/>
            <a:ext cx="6075431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 Distribution</a:t>
            </a:r>
            <a:endParaRPr lang="en-US" dirty="0"/>
          </a:p>
        </p:txBody>
      </p:sp>
      <p:pic>
        <p:nvPicPr>
          <p:cNvPr id="6" name="Object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554" y="1825874"/>
            <a:ext cx="5904024" cy="2780605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19664" y="2104684"/>
            <a:ext cx="685629" cy="685629"/>
          </a:xfrm>
          <a:prstGeom prst="rect">
            <a:avLst/>
          </a:prstGeom>
        </p:spPr>
      </p:pic>
      <p:sp>
        <p:nvSpPr>
          <p:cNvPr id="8" name="Object 7"/>
          <p:cNvSpPr/>
          <p:nvPr/>
        </p:nvSpPr>
        <p:spPr>
          <a:xfrm>
            <a:off x="2305902" y="2347941"/>
            <a:ext cx="513269" cy="1919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512"/>
              </a:lnSpc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21,858</a:t>
            </a:r>
            <a:endParaRPr lang="en-US" dirty="0"/>
          </a:p>
        </p:txBody>
      </p:sp>
      <p:pic>
        <p:nvPicPr>
          <p:cNvPr id="9" name="Object 8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47224" y="2294987"/>
            <a:ext cx="695151" cy="695151"/>
          </a:xfrm>
          <a:prstGeom prst="rect">
            <a:avLst/>
          </a:prstGeom>
        </p:spPr>
      </p:pic>
      <p:sp>
        <p:nvSpPr>
          <p:cNvPr id="10" name="Object 9"/>
          <p:cNvSpPr/>
          <p:nvPr/>
        </p:nvSpPr>
        <p:spPr>
          <a:xfrm>
            <a:off x="3233405" y="2538169"/>
            <a:ext cx="513269" cy="1919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512"/>
              </a:lnSpc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18,547</a:t>
            </a:r>
            <a:endParaRPr lang="en-US" dirty="0"/>
          </a:p>
        </p:txBody>
      </p:sp>
      <p:pic>
        <p:nvPicPr>
          <p:cNvPr id="11" name="Object 10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69877" y="2404944"/>
            <a:ext cx="695151" cy="704674"/>
          </a:xfrm>
          <a:prstGeom prst="rect">
            <a:avLst/>
          </a:prstGeom>
        </p:spPr>
      </p:pic>
      <p:sp>
        <p:nvSpPr>
          <p:cNvPr id="12" name="Object 11"/>
          <p:cNvSpPr/>
          <p:nvPr/>
        </p:nvSpPr>
        <p:spPr>
          <a:xfrm>
            <a:off x="4155671" y="2652960"/>
            <a:ext cx="523744" cy="1919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512"/>
              </a:lnSpc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16,549</a:t>
            </a:r>
            <a:endParaRPr lang="en-US" dirty="0"/>
          </a:p>
        </p:txBody>
      </p:sp>
      <p:pic>
        <p:nvPicPr>
          <p:cNvPr id="13" name="Object 12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97442" y="2529481"/>
            <a:ext cx="695151" cy="704674"/>
          </a:xfrm>
          <a:prstGeom prst="rect">
            <a:avLst/>
          </a:prstGeom>
        </p:spPr>
      </p:pic>
      <p:sp>
        <p:nvSpPr>
          <p:cNvPr id="14" name="Object 13"/>
          <p:cNvSpPr/>
          <p:nvPr/>
        </p:nvSpPr>
        <p:spPr>
          <a:xfrm>
            <a:off x="5083174" y="2777404"/>
            <a:ext cx="523744" cy="1919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512"/>
              </a:lnSpc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14,383</a:t>
            </a:r>
            <a:endParaRPr lang="en-US" dirty="0"/>
          </a:p>
        </p:txBody>
      </p:sp>
      <p:pic>
        <p:nvPicPr>
          <p:cNvPr id="15" name="Object 14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82576" y="1783742"/>
            <a:ext cx="714196" cy="714196"/>
          </a:xfrm>
          <a:prstGeom prst="rect">
            <a:avLst/>
          </a:prstGeom>
        </p:spPr>
      </p:pic>
      <p:sp>
        <p:nvSpPr>
          <p:cNvPr id="16" name="Object 15"/>
          <p:cNvSpPr/>
          <p:nvPr/>
        </p:nvSpPr>
        <p:spPr>
          <a:xfrm>
            <a:off x="1367924" y="2036316"/>
            <a:ext cx="534219" cy="1919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512"/>
              </a:lnSpc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27,282</a:t>
            </a:r>
            <a:endParaRPr lang="en-US" dirty="0"/>
          </a:p>
        </p:txBody>
      </p:sp>
      <p:sp>
        <p:nvSpPr>
          <p:cNvPr id="17" name="Object 16"/>
          <p:cNvSpPr/>
          <p:nvPr/>
        </p:nvSpPr>
        <p:spPr>
          <a:xfrm>
            <a:off x="0" y="4780355"/>
            <a:ext cx="12188952" cy="2075931"/>
          </a:xfrm>
          <a:prstGeom prst="rect">
            <a:avLst/>
          </a:prstGeom>
          <a:solidFill>
            <a:srgbClr val="F5F5F5"/>
          </a:solidFill>
        </p:spPr>
        <p:txBody>
          <a:bodyPr/>
          <a:lstStyle/>
          <a:p>
            <a:endParaRPr lang="en-CA"/>
          </a:p>
        </p:txBody>
      </p:sp>
      <p:sp>
        <p:nvSpPr>
          <p:cNvPr id="18" name="Object 17"/>
          <p:cNvSpPr/>
          <p:nvPr/>
        </p:nvSpPr>
        <p:spPr>
          <a:xfrm>
            <a:off x="581772" y="4962891"/>
            <a:ext cx="11025407" cy="17590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ts val="2268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age distribution highlights that Seniors (65+) form the largest group of travelers at 27.66%, followed by middle-aged adults (31-50) at 22.16%.</a:t>
            </a:r>
          </a:p>
          <a:p>
            <a:pPr marL="285750" indent="-285750" algn="just">
              <a:lnSpc>
                <a:spcPts val="2268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2A2921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285750" indent="-285750" algn="just">
              <a:lnSpc>
                <a:spcPts val="2268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A2921"/>
                </a:solidFill>
                <a:latin typeface="Montserrat" pitchFamily="34" charset="0"/>
              </a:rPr>
              <a:t>North America stands as the top destination for international travels, with seniors aged 65 and older constituting the largest demographic at 32.5%, while Asia follows as a distant second.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85C667-6A81-7366-2BD2-CBEDC9C9CA0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6221" y="1046683"/>
            <a:ext cx="5591225" cy="354544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016"/>
              </a:lnSpc>
              <a:buNone/>
            </a:pPr>
            <a:r>
              <a:rPr lang="en-US" sz="31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Insight 4: International Travel Flow</a:t>
            </a:r>
            <a:endParaRPr lang="en-US" b="1" dirty="0"/>
          </a:p>
        </p:txBody>
      </p:sp>
      <p:sp>
        <p:nvSpPr>
          <p:cNvPr id="5" name="Object 4"/>
          <p:cNvSpPr/>
          <p:nvPr/>
        </p:nvSpPr>
        <p:spPr>
          <a:xfrm>
            <a:off x="199975" y="5262437"/>
            <a:ext cx="6075431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Continent-level Travel Distribution</a:t>
            </a:r>
            <a:endParaRPr lang="en-US" b="1" dirty="0"/>
          </a:p>
        </p:txBody>
      </p:sp>
      <p:sp>
        <p:nvSpPr>
          <p:cNvPr id="6" name="Object 5"/>
          <p:cNvSpPr/>
          <p:nvPr/>
        </p:nvSpPr>
        <p:spPr>
          <a:xfrm>
            <a:off x="704088" y="5578618"/>
            <a:ext cx="4617720" cy="6396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  <a:spcBef>
                <a:spcPts val="663"/>
              </a:spcBef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pie chart provides a distribution of international travel by continent, showcasing North America leading with the highest share of 32.5%, indicating its prominence as a key travel destination or origin.</a:t>
            </a:r>
            <a:endParaRPr lang="en-US" dirty="0"/>
          </a:p>
        </p:txBody>
      </p:sp>
      <p:sp>
        <p:nvSpPr>
          <p:cNvPr id="9" name="Object 8"/>
          <p:cNvSpPr/>
          <p:nvPr/>
        </p:nvSpPr>
        <p:spPr>
          <a:xfrm>
            <a:off x="5913546" y="5262437"/>
            <a:ext cx="6075431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Route: China–U.S.</a:t>
            </a:r>
            <a:endParaRPr lang="en-US" b="1" dirty="0"/>
          </a:p>
        </p:txBody>
      </p:sp>
      <p:sp>
        <p:nvSpPr>
          <p:cNvPr id="10" name="Object 9"/>
          <p:cNvSpPr/>
          <p:nvPr/>
        </p:nvSpPr>
        <p:spPr>
          <a:xfrm>
            <a:off x="6492240" y="5578618"/>
            <a:ext cx="5496737" cy="8528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  <a:spcBef>
                <a:spcPts val="663"/>
              </a:spcBef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analysis highlights the China-United States route as the busiest international travel route, significantly surpassing other routes in traveler count. This route displays consistently high travel volume throughout the year.</a:t>
            </a:r>
            <a:endParaRPr lang="en-US" dirty="0"/>
          </a:p>
        </p:txBody>
      </p:sp>
      <p:pic>
        <p:nvPicPr>
          <p:cNvPr id="3" name="Object 9">
            <a:extLst>
              <a:ext uri="{FF2B5EF4-FFF2-40B4-BE49-F238E27FC236}">
                <a16:creationId xmlns:a16="http://schemas.microsoft.com/office/drawing/2014/main" id="{60763E03-80DE-BF48-A020-3B6730EA0C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14231" y="3308645"/>
            <a:ext cx="1809298" cy="1247463"/>
          </a:xfrm>
          <a:prstGeom prst="rect">
            <a:avLst/>
          </a:prstGeom>
        </p:spPr>
      </p:pic>
      <p:sp>
        <p:nvSpPr>
          <p:cNvPr id="4" name="Object 10">
            <a:extLst>
              <a:ext uri="{FF2B5EF4-FFF2-40B4-BE49-F238E27FC236}">
                <a16:creationId xmlns:a16="http://schemas.microsoft.com/office/drawing/2014/main" id="{3653CA31-DE07-7EDC-A68C-0BBE64D400B7}"/>
              </a:ext>
            </a:extLst>
          </p:cNvPr>
          <p:cNvSpPr/>
          <p:nvPr/>
        </p:nvSpPr>
        <p:spPr>
          <a:xfrm>
            <a:off x="3841099" y="4554186"/>
            <a:ext cx="701817" cy="2879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2268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32.5%</a:t>
            </a:r>
            <a:endParaRPr lang="en-US" dirty="0"/>
          </a:p>
        </p:txBody>
      </p:sp>
      <p:sp>
        <p:nvSpPr>
          <p:cNvPr id="7" name="Object 11">
            <a:extLst>
              <a:ext uri="{FF2B5EF4-FFF2-40B4-BE49-F238E27FC236}">
                <a16:creationId xmlns:a16="http://schemas.microsoft.com/office/drawing/2014/main" id="{7D4E7DEB-A277-309C-F9A3-12E52D5BD449}"/>
              </a:ext>
            </a:extLst>
          </p:cNvPr>
          <p:cNvSpPr/>
          <p:nvPr/>
        </p:nvSpPr>
        <p:spPr>
          <a:xfrm>
            <a:off x="3835862" y="4419084"/>
            <a:ext cx="817041" cy="1248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982"/>
              </a:lnSpc>
              <a:buNone/>
            </a:pPr>
            <a:r>
              <a:rPr lang="en-US" sz="78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North America</a:t>
            </a:r>
            <a:endParaRPr lang="en-US" dirty="0"/>
          </a:p>
        </p:txBody>
      </p:sp>
      <p:pic>
        <p:nvPicPr>
          <p:cNvPr id="8" name="Object 12">
            <a:extLst>
              <a:ext uri="{FF2B5EF4-FFF2-40B4-BE49-F238E27FC236}">
                <a16:creationId xmlns:a16="http://schemas.microsoft.com/office/drawing/2014/main" id="{A726C972-6246-EA03-78F3-A59F9E1D60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57772" y="3232559"/>
            <a:ext cx="1542664" cy="1447438"/>
          </a:xfrm>
          <a:prstGeom prst="rect">
            <a:avLst/>
          </a:prstGeom>
        </p:spPr>
      </p:pic>
      <p:sp>
        <p:nvSpPr>
          <p:cNvPr id="11" name="Object 13">
            <a:extLst>
              <a:ext uri="{FF2B5EF4-FFF2-40B4-BE49-F238E27FC236}">
                <a16:creationId xmlns:a16="http://schemas.microsoft.com/office/drawing/2014/main" id="{88F9F700-DEB0-7DA8-18CD-31EA3B030024}"/>
              </a:ext>
            </a:extLst>
          </p:cNvPr>
          <p:cNvSpPr/>
          <p:nvPr/>
        </p:nvSpPr>
        <p:spPr>
          <a:xfrm>
            <a:off x="1148607" y="4231715"/>
            <a:ext cx="670392" cy="2879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2268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18.3%</a:t>
            </a:r>
            <a:endParaRPr lang="en-US" dirty="0"/>
          </a:p>
        </p:txBody>
      </p:sp>
      <p:sp>
        <p:nvSpPr>
          <p:cNvPr id="13" name="Object 14">
            <a:extLst>
              <a:ext uri="{FF2B5EF4-FFF2-40B4-BE49-F238E27FC236}">
                <a16:creationId xmlns:a16="http://schemas.microsoft.com/office/drawing/2014/main" id="{380E8637-73A1-0146-1D21-4E413EFC44FE}"/>
              </a:ext>
            </a:extLst>
          </p:cNvPr>
          <p:cNvSpPr/>
          <p:nvPr/>
        </p:nvSpPr>
        <p:spPr>
          <a:xfrm>
            <a:off x="1564745" y="4096612"/>
            <a:ext cx="238065" cy="1248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982"/>
              </a:lnSpc>
              <a:buNone/>
            </a:pPr>
            <a:r>
              <a:rPr lang="en-US" sz="78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Asia</a:t>
            </a:r>
            <a:endParaRPr lang="en-US" dirty="0"/>
          </a:p>
        </p:txBody>
      </p:sp>
      <p:pic>
        <p:nvPicPr>
          <p:cNvPr id="15" name="Object 15">
            <a:extLst>
              <a:ext uri="{FF2B5EF4-FFF2-40B4-BE49-F238E27FC236}">
                <a16:creationId xmlns:a16="http://schemas.microsoft.com/office/drawing/2014/main" id="{D94900F1-5D01-076C-4F0C-E1944D7036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44981" y="2310293"/>
            <a:ext cx="1247463" cy="1018920"/>
          </a:xfrm>
          <a:prstGeom prst="rect">
            <a:avLst/>
          </a:prstGeom>
        </p:spPr>
      </p:pic>
      <p:sp>
        <p:nvSpPr>
          <p:cNvPr id="16" name="Object 16">
            <a:extLst>
              <a:ext uri="{FF2B5EF4-FFF2-40B4-BE49-F238E27FC236}">
                <a16:creationId xmlns:a16="http://schemas.microsoft.com/office/drawing/2014/main" id="{FC87FDF7-A844-D7DF-7529-083B30B0065F}"/>
              </a:ext>
            </a:extLst>
          </p:cNvPr>
          <p:cNvSpPr/>
          <p:nvPr/>
        </p:nvSpPr>
        <p:spPr>
          <a:xfrm>
            <a:off x="1369563" y="2458279"/>
            <a:ext cx="680867" cy="2879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2268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14.3%</a:t>
            </a:r>
            <a:endParaRPr lang="en-US"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6F2E3A6B-D17C-14EB-2703-3C44B079F801}"/>
              </a:ext>
            </a:extLst>
          </p:cNvPr>
          <p:cNvSpPr/>
          <p:nvPr/>
        </p:nvSpPr>
        <p:spPr>
          <a:xfrm>
            <a:off x="1579537" y="2323177"/>
            <a:ext cx="460895" cy="1248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982"/>
              </a:lnSpc>
              <a:buNone/>
            </a:pPr>
            <a:r>
              <a:rPr lang="en-US" sz="78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Oceania</a:t>
            </a:r>
            <a:endParaRPr lang="en-US" dirty="0"/>
          </a:p>
        </p:txBody>
      </p:sp>
      <p:pic>
        <p:nvPicPr>
          <p:cNvPr id="18" name="Object 18">
            <a:extLst>
              <a:ext uri="{FF2B5EF4-FFF2-40B4-BE49-F238E27FC236}">
                <a16:creationId xmlns:a16="http://schemas.microsoft.com/office/drawing/2014/main" id="{77A7550E-1681-BDBB-C84B-C622978A94A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89604" y="1794529"/>
            <a:ext cx="1161759" cy="1542664"/>
          </a:xfrm>
          <a:prstGeom prst="rect">
            <a:avLst/>
          </a:prstGeom>
        </p:spPr>
      </p:pic>
      <p:sp>
        <p:nvSpPr>
          <p:cNvPr id="19" name="Object 19">
            <a:extLst>
              <a:ext uri="{FF2B5EF4-FFF2-40B4-BE49-F238E27FC236}">
                <a16:creationId xmlns:a16="http://schemas.microsoft.com/office/drawing/2014/main" id="{C1D0F743-ADA5-09C4-FCF8-6CCBE3FFB560}"/>
              </a:ext>
            </a:extLst>
          </p:cNvPr>
          <p:cNvSpPr/>
          <p:nvPr/>
        </p:nvSpPr>
        <p:spPr>
          <a:xfrm>
            <a:off x="2190552" y="1523974"/>
            <a:ext cx="659917" cy="2879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2268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12.6%</a:t>
            </a:r>
            <a:endParaRPr lang="en-US" dirty="0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9FF9B2C5-8424-D7A7-C5A9-C91C00A44BEA}"/>
              </a:ext>
            </a:extLst>
          </p:cNvPr>
          <p:cNvSpPr/>
          <p:nvPr/>
        </p:nvSpPr>
        <p:spPr>
          <a:xfrm>
            <a:off x="2430522" y="1388872"/>
            <a:ext cx="408520" cy="1248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982"/>
              </a:lnSpc>
              <a:buNone/>
            </a:pPr>
            <a:r>
              <a:rPr lang="en-US" sz="78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Europe</a:t>
            </a:r>
            <a:endParaRPr lang="en-US" dirty="0"/>
          </a:p>
        </p:txBody>
      </p:sp>
      <p:pic>
        <p:nvPicPr>
          <p:cNvPr id="21" name="Object 21">
            <a:extLst>
              <a:ext uri="{FF2B5EF4-FFF2-40B4-BE49-F238E27FC236}">
                <a16:creationId xmlns:a16="http://schemas.microsoft.com/office/drawing/2014/main" id="{6E12EE31-67FE-D9D5-EEE7-3130884BF65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71875" y="2097844"/>
            <a:ext cx="971307" cy="1237940"/>
          </a:xfrm>
          <a:prstGeom prst="rect">
            <a:avLst/>
          </a:prstGeom>
        </p:spPr>
      </p:pic>
      <p:sp>
        <p:nvSpPr>
          <p:cNvPr id="22" name="Object 22">
            <a:extLst>
              <a:ext uri="{FF2B5EF4-FFF2-40B4-BE49-F238E27FC236}">
                <a16:creationId xmlns:a16="http://schemas.microsoft.com/office/drawing/2014/main" id="{AAD34DF7-3954-EA71-8F0C-57D580BAE49C}"/>
              </a:ext>
            </a:extLst>
          </p:cNvPr>
          <p:cNvSpPr/>
          <p:nvPr/>
        </p:nvSpPr>
        <p:spPr>
          <a:xfrm>
            <a:off x="3819924" y="1948775"/>
            <a:ext cx="618018" cy="2879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2268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11.4%</a:t>
            </a:r>
            <a:endParaRPr lang="en-US" dirty="0"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10317736-B76C-C322-6492-F50DAAB41B24}"/>
              </a:ext>
            </a:extLst>
          </p:cNvPr>
          <p:cNvSpPr/>
          <p:nvPr/>
        </p:nvSpPr>
        <p:spPr>
          <a:xfrm>
            <a:off x="3832779" y="1813673"/>
            <a:ext cx="335196" cy="1248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982"/>
              </a:lnSpc>
              <a:buNone/>
            </a:pPr>
            <a:r>
              <a:rPr lang="en-US" sz="78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Africa</a:t>
            </a:r>
            <a:endParaRPr lang="en-US" dirty="0"/>
          </a:p>
        </p:txBody>
      </p:sp>
      <p:pic>
        <p:nvPicPr>
          <p:cNvPr id="24" name="Object 24">
            <a:extLst>
              <a:ext uri="{FF2B5EF4-FFF2-40B4-BE49-F238E27FC236}">
                <a16:creationId xmlns:a16="http://schemas.microsoft.com/office/drawing/2014/main" id="{3F4F5F5D-F889-72C6-1D31-79F0F3A4D22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71875" y="2350860"/>
            <a:ext cx="1542664" cy="980830"/>
          </a:xfrm>
          <a:prstGeom prst="rect">
            <a:avLst/>
          </a:prstGeom>
        </p:spPr>
      </p:pic>
      <p:sp>
        <p:nvSpPr>
          <p:cNvPr id="25" name="Object 25">
            <a:extLst>
              <a:ext uri="{FF2B5EF4-FFF2-40B4-BE49-F238E27FC236}">
                <a16:creationId xmlns:a16="http://schemas.microsoft.com/office/drawing/2014/main" id="{78FB6CAB-25D6-3442-818A-864B19690759}"/>
              </a:ext>
            </a:extLst>
          </p:cNvPr>
          <p:cNvSpPr/>
          <p:nvPr/>
        </p:nvSpPr>
        <p:spPr>
          <a:xfrm>
            <a:off x="4665859" y="2551924"/>
            <a:ext cx="691342" cy="2879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2268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10.9%</a:t>
            </a:r>
            <a:endParaRPr lang="en-US" dirty="0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C22376B0-7BF1-A0D7-6472-D23BB08D9044}"/>
              </a:ext>
            </a:extLst>
          </p:cNvPr>
          <p:cNvSpPr/>
          <p:nvPr/>
        </p:nvSpPr>
        <p:spPr>
          <a:xfrm>
            <a:off x="4659669" y="2416821"/>
            <a:ext cx="827516" cy="1248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982"/>
              </a:lnSpc>
              <a:buNone/>
            </a:pPr>
            <a:r>
              <a:rPr lang="en-US" sz="78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South America</a:t>
            </a:r>
            <a:endParaRPr lang="en-US" dirty="0"/>
          </a:p>
        </p:txBody>
      </p:sp>
      <p:pic>
        <p:nvPicPr>
          <p:cNvPr id="27" name="Object 7">
            <a:extLst>
              <a:ext uri="{FF2B5EF4-FFF2-40B4-BE49-F238E27FC236}">
                <a16:creationId xmlns:a16="http://schemas.microsoft.com/office/drawing/2014/main" id="{89614DC8-6818-53B5-B803-E4D07CF8909C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-934" t="-6303" r="-934" b="-6303"/>
          <a:stretch/>
        </p:blipFill>
        <p:spPr>
          <a:xfrm>
            <a:off x="5913546" y="1267659"/>
            <a:ext cx="5997821" cy="39089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016"/>
              </a:lnSpc>
              <a:buNone/>
            </a:pPr>
            <a:r>
              <a:rPr lang="en-US" sz="31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Monthly Travel Patterns and Cancellation Rate</a:t>
            </a:r>
            <a:endParaRPr lang="en-US" b="1" dirty="0"/>
          </a:p>
        </p:txBody>
      </p:sp>
      <p:sp>
        <p:nvSpPr>
          <p:cNvPr id="5" name="Object 4"/>
          <p:cNvSpPr/>
          <p:nvPr/>
        </p:nvSpPr>
        <p:spPr>
          <a:xfrm>
            <a:off x="199975" y="5262437"/>
            <a:ext cx="6075431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Seasonal Spikes on Select Routes</a:t>
            </a:r>
            <a:endParaRPr lang="en-US" b="1" dirty="0"/>
          </a:p>
        </p:txBody>
      </p:sp>
      <p:sp>
        <p:nvSpPr>
          <p:cNvPr id="6" name="Object 5"/>
          <p:cNvSpPr/>
          <p:nvPr/>
        </p:nvSpPr>
        <p:spPr>
          <a:xfrm>
            <a:off x="585333" y="5685227"/>
            <a:ext cx="5304713" cy="6396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  <a:spcBef>
                <a:spcPts val="663"/>
              </a:spcBef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While the China-U.S. route maintains a steady high level of travel, other routes, such as Philippines-United States and China-Australia, exhibit more sporadic or seasonal spikes in travel volume.</a:t>
            </a:r>
            <a:endParaRPr lang="en-US" dirty="0"/>
          </a:p>
        </p:txBody>
      </p:sp>
      <p:pic>
        <p:nvPicPr>
          <p:cNvPr id="8" name="Object 7"/>
          <p:cNvPicPr>
            <a:picLocks noChangeAspect="1"/>
          </p:cNvPicPr>
          <p:nvPr/>
        </p:nvPicPr>
        <p:blipFill>
          <a:blip r:embed="rId3"/>
          <a:srcRect l="132" t="1250" r="132" b="1250"/>
          <a:stretch/>
        </p:blipFill>
        <p:spPr>
          <a:xfrm>
            <a:off x="6629400" y="1539421"/>
            <a:ext cx="5174861" cy="3372582"/>
          </a:xfrm>
          <a:prstGeom prst="rect">
            <a:avLst/>
          </a:prstGeom>
        </p:spPr>
      </p:pic>
      <p:sp>
        <p:nvSpPr>
          <p:cNvPr id="9" name="Object 8"/>
          <p:cNvSpPr/>
          <p:nvPr/>
        </p:nvSpPr>
        <p:spPr>
          <a:xfrm>
            <a:off x="5913546" y="5262437"/>
            <a:ext cx="6075431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International routes</a:t>
            </a:r>
            <a:endParaRPr lang="en-US" b="1" dirty="0"/>
          </a:p>
        </p:txBody>
      </p:sp>
      <p:sp>
        <p:nvSpPr>
          <p:cNvPr id="10" name="Object 9"/>
          <p:cNvSpPr/>
          <p:nvPr/>
        </p:nvSpPr>
        <p:spPr>
          <a:xfrm>
            <a:off x="6492240" y="5578618"/>
            <a:ext cx="5496737" cy="8528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  <a:spcBef>
                <a:spcPts val="663"/>
              </a:spcBef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Analysis of 113 major (for those having &gt; 100 flights) international routes reveals that routes with fewer flights tend to experience higher and more variable cancellation rates (up to 40%), while busier routes maintain more stable cancellation rates around 32-35%. </a:t>
            </a:r>
            <a:endParaRPr lang="en-US" dirty="0"/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9710F0FC-6BEF-5785-592F-6C8DC28E14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467" t="-7920" r="-1467" b="-7920"/>
          <a:stretch/>
        </p:blipFill>
        <p:spPr>
          <a:xfrm>
            <a:off x="465151" y="1290042"/>
            <a:ext cx="5940153" cy="387134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016"/>
              </a:lnSpc>
              <a:buNone/>
            </a:pPr>
            <a:r>
              <a:rPr lang="en-US" sz="3188" b="1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Insight 5: Airport Performance</a:t>
            </a:r>
            <a:endParaRPr lang="en-US" b="1" dirty="0"/>
          </a:p>
        </p:txBody>
      </p:sp>
      <p:sp>
        <p:nvSpPr>
          <p:cNvPr id="3" name="Object 2"/>
          <p:cNvSpPr/>
          <p:nvPr/>
        </p:nvSpPr>
        <p:spPr>
          <a:xfrm>
            <a:off x="476131" y="1523619"/>
            <a:ext cx="5523119" cy="401854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CA"/>
          </a:p>
        </p:txBody>
      </p:sp>
      <p:pic>
        <p:nvPicPr>
          <p:cNvPr id="4" name="Object 3"/>
          <p:cNvPicPr>
            <a:picLocks noChangeAspect="1"/>
          </p:cNvPicPr>
          <p:nvPr/>
        </p:nvPicPr>
        <p:blipFill>
          <a:blip r:embed="rId3"/>
          <a:srcRect l="649" t="-7582" r="649" b="-7582"/>
          <a:stretch/>
        </p:blipFill>
        <p:spPr>
          <a:xfrm>
            <a:off x="476132" y="1523620"/>
            <a:ext cx="5216666" cy="3795574"/>
          </a:xfrm>
          <a:prstGeom prst="rect">
            <a:avLst/>
          </a:prstGeom>
        </p:spPr>
      </p:pic>
      <p:sp>
        <p:nvSpPr>
          <p:cNvPr id="5" name="Object 4"/>
          <p:cNvSpPr/>
          <p:nvPr/>
        </p:nvSpPr>
        <p:spPr>
          <a:xfrm>
            <a:off x="199975" y="5681432"/>
            <a:ext cx="6075431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Delay Rate Distribution</a:t>
            </a:r>
            <a:endParaRPr lang="en-US" b="1" dirty="0"/>
          </a:p>
        </p:txBody>
      </p:sp>
      <p:sp>
        <p:nvSpPr>
          <p:cNvPr id="6" name="Object 5"/>
          <p:cNvSpPr/>
          <p:nvPr/>
        </p:nvSpPr>
        <p:spPr>
          <a:xfrm>
            <a:off x="199975" y="5997613"/>
            <a:ext cx="6075431" cy="426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  <a:buNone/>
            </a:pPr>
            <a:endParaRPr lang="en-US" dirty="0"/>
          </a:p>
        </p:txBody>
      </p:sp>
      <p:sp>
        <p:nvSpPr>
          <p:cNvPr id="9" name="Object 8"/>
          <p:cNvSpPr/>
          <p:nvPr/>
        </p:nvSpPr>
        <p:spPr>
          <a:xfrm>
            <a:off x="5913546" y="5681432"/>
            <a:ext cx="6075431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endParaRPr lang="en-US" b="1" dirty="0"/>
          </a:p>
        </p:txBody>
      </p:sp>
      <p:sp>
        <p:nvSpPr>
          <p:cNvPr id="10" name="Object 9"/>
          <p:cNvSpPr/>
          <p:nvPr/>
        </p:nvSpPr>
        <p:spPr>
          <a:xfrm>
            <a:off x="5913546" y="5997613"/>
            <a:ext cx="6075431" cy="21321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  <a:buNone/>
            </a:pPr>
            <a:endParaRPr lang="en-US" dirty="0"/>
          </a:p>
        </p:txBody>
      </p:sp>
      <p:pic>
        <p:nvPicPr>
          <p:cNvPr id="21" name="Object 1">
            <a:extLst>
              <a:ext uri="{FF2B5EF4-FFF2-40B4-BE49-F238E27FC236}">
                <a16:creationId xmlns:a16="http://schemas.microsoft.com/office/drawing/2014/main" id="{6F0F17D8-E13E-A809-1EFB-8F6C5B79F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76" y="1669671"/>
            <a:ext cx="6138520" cy="3503472"/>
          </a:xfrm>
          <a:prstGeom prst="rect">
            <a:avLst/>
          </a:prstGeom>
        </p:spPr>
      </p:pic>
      <p:sp>
        <p:nvSpPr>
          <p:cNvPr id="29" name="Object 8">
            <a:extLst>
              <a:ext uri="{FF2B5EF4-FFF2-40B4-BE49-F238E27FC236}">
                <a16:creationId xmlns:a16="http://schemas.microsoft.com/office/drawing/2014/main" id="{59EDAABF-AAD4-F95A-74B2-739F481A00E4}"/>
              </a:ext>
            </a:extLst>
          </p:cNvPr>
          <p:cNvSpPr/>
          <p:nvPr/>
        </p:nvSpPr>
        <p:spPr>
          <a:xfrm>
            <a:off x="5913546" y="5681432"/>
            <a:ext cx="6075431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Delay Rates for Top 20 Busiest Airports</a:t>
            </a:r>
            <a:endParaRPr lang="en-US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016"/>
              </a:lnSpc>
              <a:buNone/>
            </a:pPr>
            <a:r>
              <a:rPr lang="en-US" sz="3188" b="1" dirty="0">
                <a:solidFill>
                  <a:srgbClr val="2A292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Insight 5: Airport Performance</a:t>
            </a:r>
            <a:endParaRPr lang="en-US" b="1" dirty="0"/>
          </a:p>
        </p:txBody>
      </p:sp>
      <p:sp>
        <p:nvSpPr>
          <p:cNvPr id="3" name="Object 2"/>
          <p:cNvSpPr/>
          <p:nvPr/>
        </p:nvSpPr>
        <p:spPr>
          <a:xfrm>
            <a:off x="476131" y="1523619"/>
            <a:ext cx="2666333" cy="3809047"/>
          </a:xfrm>
          <a:prstGeom prst="roundRect">
            <a:avLst>
              <a:gd name="adj" fmla="val 3429"/>
            </a:avLst>
          </a:prstGeom>
          <a:solidFill>
            <a:srgbClr val="F0B356"/>
          </a:solidFill>
        </p:spPr>
        <p:txBody>
          <a:bodyPr/>
          <a:lstStyle/>
          <a:p>
            <a:endParaRPr lang="en-CA"/>
          </a:p>
        </p:txBody>
      </p:sp>
      <p:pic>
        <p:nvPicPr>
          <p:cNvPr id="4" name="Object 3"/>
          <p:cNvPicPr>
            <a:picLocks noChangeAspect="1"/>
          </p:cNvPicPr>
          <p:nvPr/>
        </p:nvPicPr>
        <p:blipFill>
          <a:blip r:embed="rId3"/>
          <a:srcRect l="26570" r="26570"/>
          <a:stretch/>
        </p:blipFill>
        <p:spPr>
          <a:xfrm>
            <a:off x="476131" y="1523619"/>
            <a:ext cx="2666333" cy="3809047"/>
          </a:xfrm>
          <a:prstGeom prst="rect">
            <a:avLst/>
          </a:prstGeom>
        </p:spPr>
      </p:pic>
      <p:sp>
        <p:nvSpPr>
          <p:cNvPr id="5" name="Object 4"/>
          <p:cNvSpPr/>
          <p:nvPr/>
        </p:nvSpPr>
        <p:spPr>
          <a:xfrm>
            <a:off x="342814" y="5471935"/>
            <a:ext cx="2932967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Danilo Atienza Air Base</a:t>
            </a:r>
            <a:endParaRPr lang="en-US" b="1" dirty="0"/>
          </a:p>
        </p:txBody>
      </p:sp>
      <p:sp>
        <p:nvSpPr>
          <p:cNvPr id="6" name="Object 5"/>
          <p:cNvSpPr/>
          <p:nvPr/>
        </p:nvSpPr>
        <p:spPr>
          <a:xfrm>
            <a:off x="555355" y="5788115"/>
            <a:ext cx="2471310" cy="426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  <a:buNone/>
            </a:pP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Airport with the best performance and a 16.67% delay rate</a:t>
            </a:r>
            <a:endParaRPr lang="en-US" dirty="0"/>
          </a:p>
        </p:txBody>
      </p:sp>
      <p:sp>
        <p:nvSpPr>
          <p:cNvPr id="7" name="Object 6"/>
          <p:cNvSpPr/>
          <p:nvPr/>
        </p:nvSpPr>
        <p:spPr>
          <a:xfrm>
            <a:off x="3332917" y="1523619"/>
            <a:ext cx="2666333" cy="3809047"/>
          </a:xfrm>
          <a:prstGeom prst="roundRect">
            <a:avLst>
              <a:gd name="adj" fmla="val 3429"/>
            </a:avLst>
          </a:prstGeom>
          <a:solidFill>
            <a:srgbClr val="F0B356"/>
          </a:solidFill>
        </p:spPr>
        <p:txBody>
          <a:bodyPr/>
          <a:lstStyle/>
          <a:p>
            <a:endParaRPr lang="en-CA"/>
          </a:p>
        </p:txBody>
      </p:sp>
      <p:pic>
        <p:nvPicPr>
          <p:cNvPr id="8" name="Object 7"/>
          <p:cNvPicPr>
            <a:picLocks noChangeAspect="1"/>
          </p:cNvPicPr>
          <p:nvPr/>
        </p:nvPicPr>
        <p:blipFill>
          <a:blip r:embed="rId4"/>
          <a:srcRect l="26550" r="26550"/>
          <a:stretch/>
        </p:blipFill>
        <p:spPr>
          <a:xfrm>
            <a:off x="3332917" y="1523619"/>
            <a:ext cx="2666333" cy="3809047"/>
          </a:xfrm>
          <a:prstGeom prst="rect">
            <a:avLst/>
          </a:prstGeom>
        </p:spPr>
      </p:pic>
      <p:sp>
        <p:nvSpPr>
          <p:cNvPr id="9" name="Object 8"/>
          <p:cNvSpPr/>
          <p:nvPr/>
        </p:nvSpPr>
        <p:spPr>
          <a:xfrm>
            <a:off x="3199600" y="5471935"/>
            <a:ext cx="2932967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Lake Country Airport</a:t>
            </a:r>
            <a:endParaRPr lang="en-US" b="1" dirty="0"/>
          </a:p>
        </p:txBody>
      </p:sp>
      <p:sp>
        <p:nvSpPr>
          <p:cNvPr id="10" name="Object 9"/>
          <p:cNvSpPr/>
          <p:nvPr/>
        </p:nvSpPr>
        <p:spPr>
          <a:xfrm>
            <a:off x="3412140" y="5788115"/>
            <a:ext cx="2720427" cy="426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  <a:buNone/>
            </a:pP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Airport with the highest delay rate of 48.15%</a:t>
            </a:r>
            <a:endParaRPr lang="en-US" dirty="0"/>
          </a:p>
        </p:txBody>
      </p:sp>
      <p:sp>
        <p:nvSpPr>
          <p:cNvPr id="11" name="Object 10"/>
          <p:cNvSpPr/>
          <p:nvPr/>
        </p:nvSpPr>
        <p:spPr>
          <a:xfrm>
            <a:off x="6189702" y="1523619"/>
            <a:ext cx="2666333" cy="3809047"/>
          </a:xfrm>
          <a:prstGeom prst="roundRect">
            <a:avLst>
              <a:gd name="adj" fmla="val 3429"/>
            </a:avLst>
          </a:prstGeom>
          <a:solidFill>
            <a:srgbClr val="F0B356"/>
          </a:solidFill>
        </p:spPr>
        <p:txBody>
          <a:bodyPr/>
          <a:lstStyle/>
          <a:p>
            <a:endParaRPr lang="en-CA"/>
          </a:p>
        </p:txBody>
      </p:sp>
      <p:pic>
        <p:nvPicPr>
          <p:cNvPr id="12" name="Object 11"/>
          <p:cNvPicPr>
            <a:picLocks noChangeAspect="1"/>
          </p:cNvPicPr>
          <p:nvPr/>
        </p:nvPicPr>
        <p:blipFill>
          <a:blip r:embed="rId5"/>
          <a:srcRect l="30312" r="30313"/>
          <a:stretch/>
        </p:blipFill>
        <p:spPr>
          <a:xfrm>
            <a:off x="6189702" y="1523619"/>
            <a:ext cx="2666333" cy="3809047"/>
          </a:xfrm>
          <a:prstGeom prst="rect">
            <a:avLst/>
          </a:prstGeom>
        </p:spPr>
      </p:pic>
      <p:sp>
        <p:nvSpPr>
          <p:cNvPr id="13" name="Object 12"/>
          <p:cNvSpPr/>
          <p:nvPr/>
        </p:nvSpPr>
        <p:spPr>
          <a:xfrm>
            <a:off x="6056386" y="5471935"/>
            <a:ext cx="2932967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Grant County Airport</a:t>
            </a:r>
            <a:endParaRPr lang="en-US" b="1" dirty="0"/>
          </a:p>
        </p:txBody>
      </p:sp>
      <p:sp>
        <p:nvSpPr>
          <p:cNvPr id="14" name="Object 13"/>
          <p:cNvSpPr/>
          <p:nvPr/>
        </p:nvSpPr>
        <p:spPr>
          <a:xfrm>
            <a:off x="6518042" y="5770260"/>
            <a:ext cx="2341665" cy="426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  <a:buNone/>
            </a:pP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Airport with the second-highest delay rate of 46.15%</a:t>
            </a:r>
            <a:endParaRPr lang="en-US" dirty="0"/>
          </a:p>
        </p:txBody>
      </p:sp>
      <p:sp>
        <p:nvSpPr>
          <p:cNvPr id="15" name="Object 14"/>
          <p:cNvSpPr/>
          <p:nvPr/>
        </p:nvSpPr>
        <p:spPr>
          <a:xfrm>
            <a:off x="9046488" y="1523619"/>
            <a:ext cx="2666333" cy="3809047"/>
          </a:xfrm>
          <a:prstGeom prst="roundRect">
            <a:avLst>
              <a:gd name="adj" fmla="val 3429"/>
            </a:avLst>
          </a:prstGeom>
          <a:solidFill>
            <a:srgbClr val="F0B356"/>
          </a:solidFill>
        </p:spPr>
        <p:txBody>
          <a:bodyPr/>
          <a:lstStyle/>
          <a:p>
            <a:endParaRPr lang="en-CA"/>
          </a:p>
        </p:txBody>
      </p:sp>
      <p:pic>
        <p:nvPicPr>
          <p:cNvPr id="16" name="Object 15"/>
          <p:cNvPicPr>
            <a:picLocks noChangeAspect="1"/>
          </p:cNvPicPr>
          <p:nvPr/>
        </p:nvPicPr>
        <p:blipFill>
          <a:blip r:embed="rId6"/>
          <a:srcRect l="27052" r="27052"/>
          <a:stretch/>
        </p:blipFill>
        <p:spPr>
          <a:xfrm>
            <a:off x="9046488" y="1523619"/>
            <a:ext cx="2666333" cy="3809047"/>
          </a:xfrm>
          <a:prstGeom prst="rect">
            <a:avLst/>
          </a:prstGeom>
        </p:spPr>
      </p:pic>
      <p:sp>
        <p:nvSpPr>
          <p:cNvPr id="17" name="Object 16"/>
          <p:cNvSpPr/>
          <p:nvPr/>
        </p:nvSpPr>
        <p:spPr>
          <a:xfrm>
            <a:off x="8913171" y="5471935"/>
            <a:ext cx="2932967" cy="230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Delay Rate Distribution</a:t>
            </a:r>
            <a:endParaRPr lang="en-US" b="1" dirty="0"/>
          </a:p>
        </p:txBody>
      </p:sp>
      <p:sp>
        <p:nvSpPr>
          <p:cNvPr id="18" name="Object 17"/>
          <p:cNvSpPr/>
          <p:nvPr/>
        </p:nvSpPr>
        <p:spPr>
          <a:xfrm>
            <a:off x="9294160" y="5788115"/>
            <a:ext cx="2551978" cy="6396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  <a:buNone/>
            </a:pPr>
            <a:r>
              <a:rPr lang="en-US" sz="120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Airports with delay rates above 40% should be prioritized for improvement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016"/>
              </a:lnSpc>
              <a:buNone/>
            </a:pPr>
            <a:r>
              <a:rPr lang="en-US" sz="31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Lessons Learned</a:t>
            </a:r>
            <a:endParaRPr lang="en-US" b="1" dirty="0"/>
          </a:p>
        </p:txBody>
      </p:sp>
      <p:pic>
        <p:nvPicPr>
          <p:cNvPr id="3" name="Object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66954" y="1788172"/>
            <a:ext cx="885604" cy="923694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429470" y="3062712"/>
            <a:ext cx="2869070" cy="4606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Collaborative Development</a:t>
            </a:r>
            <a:endParaRPr lang="en-US" b="1" dirty="0"/>
          </a:p>
        </p:txBody>
      </p:sp>
      <p:sp>
        <p:nvSpPr>
          <p:cNvPr id="5" name="Object 4"/>
          <p:cNvSpPr/>
          <p:nvPr/>
        </p:nvSpPr>
        <p:spPr>
          <a:xfrm>
            <a:off x="429470" y="3761592"/>
            <a:ext cx="2545396" cy="12793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team's collaborative approach, with each member contributing their expertise, enabled a comprehensive and well-rounded analysis of the airline dataset.</a:t>
            </a:r>
            <a:endParaRPr lang="en-US" dirty="0"/>
          </a:p>
        </p:txBody>
      </p:sp>
      <p:pic>
        <p:nvPicPr>
          <p:cNvPr id="6" name="Object 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84393" y="1721212"/>
            <a:ext cx="695151" cy="106653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3321013" y="3062712"/>
            <a:ext cx="2618720" cy="4606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Cleaning and Transformation</a:t>
            </a:r>
            <a:endParaRPr lang="en-US" b="1" dirty="0"/>
          </a:p>
        </p:txBody>
      </p:sp>
      <p:sp>
        <p:nvSpPr>
          <p:cNvPr id="8" name="Object 7"/>
          <p:cNvSpPr/>
          <p:nvPr/>
        </p:nvSpPr>
        <p:spPr>
          <a:xfrm>
            <a:off x="3437435" y="3792082"/>
            <a:ext cx="2545396" cy="106608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Enhanced query efficiency and reduced processing time, leading to more accurate insights on delays and cancellations.</a:t>
            </a:r>
            <a:endParaRPr lang="en-US" dirty="0"/>
          </a:p>
        </p:txBody>
      </p:sp>
      <p:pic>
        <p:nvPicPr>
          <p:cNvPr id="9" name="Object 8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68002" y="1843966"/>
            <a:ext cx="952262" cy="818945"/>
          </a:xfrm>
          <a:prstGeom prst="rect">
            <a:avLst/>
          </a:prstGeom>
        </p:spPr>
      </p:pic>
      <p:sp>
        <p:nvSpPr>
          <p:cNvPr id="10" name="Object 9"/>
          <p:cNvSpPr/>
          <p:nvPr/>
        </p:nvSpPr>
        <p:spPr>
          <a:xfrm>
            <a:off x="6238744" y="3062712"/>
            <a:ext cx="2639670" cy="6909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Operational Improvements and Customer Satisfaction</a:t>
            </a:r>
            <a:endParaRPr lang="en-US" b="1" dirty="0"/>
          </a:p>
        </p:txBody>
      </p:sp>
      <p:sp>
        <p:nvSpPr>
          <p:cNvPr id="11" name="Object 10"/>
          <p:cNvSpPr/>
          <p:nvPr/>
        </p:nvSpPr>
        <p:spPr>
          <a:xfrm>
            <a:off x="6261217" y="3743623"/>
            <a:ext cx="2639670" cy="106608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key insights emphasize the importance of operational improvements and customer satisfaction in the highly competitive airline industry.</a:t>
            </a:r>
            <a:endParaRPr lang="en-US" dirty="0"/>
          </a:p>
        </p:txBody>
      </p:sp>
      <p:pic>
        <p:nvPicPr>
          <p:cNvPr id="12" name="Object 11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96202" y="1765846"/>
            <a:ext cx="780855" cy="990352"/>
          </a:xfrm>
          <a:prstGeom prst="rect">
            <a:avLst/>
          </a:prstGeom>
        </p:spPr>
      </p:pic>
      <p:sp>
        <p:nvSpPr>
          <p:cNvPr id="13" name="Object 12"/>
          <p:cNvSpPr/>
          <p:nvPr/>
        </p:nvSpPr>
        <p:spPr>
          <a:xfrm>
            <a:off x="9208848" y="3062712"/>
            <a:ext cx="2555871" cy="46065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  <a:buNone/>
            </a:pPr>
            <a:r>
              <a:rPr lang="en-US" sz="144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  </a:t>
            </a:r>
            <a:r>
              <a:rPr lang="en-US" sz="14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Interpreting Insights for Business Impact  </a:t>
            </a:r>
            <a:endParaRPr lang="en-US" b="1" dirty="0"/>
          </a:p>
        </p:txBody>
      </p:sp>
      <p:sp>
        <p:nvSpPr>
          <p:cNvPr id="14" name="Object 13"/>
          <p:cNvSpPr/>
          <p:nvPr/>
        </p:nvSpPr>
        <p:spPr>
          <a:xfrm>
            <a:off x="9363456" y="3768077"/>
            <a:ext cx="2432023" cy="8528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  Delivered impactful insights that could help airlines enhance efficiency and customer satisfaction.  </a:t>
            </a:r>
            <a:endParaRPr lang="en-US" dirty="0"/>
          </a:p>
        </p:txBody>
      </p:sp>
      <p:sp>
        <p:nvSpPr>
          <p:cNvPr id="15" name="Object 14"/>
          <p:cNvSpPr/>
          <p:nvPr/>
        </p:nvSpPr>
        <p:spPr>
          <a:xfrm>
            <a:off x="0" y="5351712"/>
            <a:ext cx="12188952" cy="1504574"/>
          </a:xfrm>
          <a:prstGeom prst="rect">
            <a:avLst/>
          </a:prstGeom>
          <a:solidFill>
            <a:srgbClr val="62A8BB"/>
          </a:solidFill>
        </p:spPr>
        <p:txBody>
          <a:bodyPr/>
          <a:lstStyle/>
          <a:p>
            <a:endParaRPr lang="en-CA"/>
          </a:p>
        </p:txBody>
      </p:sp>
      <p:sp>
        <p:nvSpPr>
          <p:cNvPr id="16" name="Object 15"/>
          <p:cNvSpPr/>
          <p:nvPr/>
        </p:nvSpPr>
        <p:spPr>
          <a:xfrm>
            <a:off x="880768" y="5668636"/>
            <a:ext cx="10427416" cy="86373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2268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  Implemented a comprehensive big data solution using big data tools to analyze airport performance data, identifying critical areas for operational improvements.  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88953" cy="1237941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en-CA"/>
          </a:p>
        </p:txBody>
      </p:sp>
      <p:sp>
        <p:nvSpPr>
          <p:cNvPr id="3" name="Object 2"/>
          <p:cNvSpPr/>
          <p:nvPr/>
        </p:nvSpPr>
        <p:spPr>
          <a:xfrm>
            <a:off x="0" y="362901"/>
            <a:ext cx="12188952" cy="5099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016"/>
              </a:lnSpc>
              <a:buNone/>
            </a:pPr>
            <a:r>
              <a:rPr lang="en-US" sz="31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Work: Transforming Air Travel Operations</a:t>
            </a:r>
            <a:endParaRPr lang="en-US" b="1" dirty="0"/>
          </a:p>
        </p:txBody>
      </p:sp>
      <p:sp>
        <p:nvSpPr>
          <p:cNvPr id="4" name="Object 3"/>
          <p:cNvSpPr/>
          <p:nvPr/>
        </p:nvSpPr>
        <p:spPr>
          <a:xfrm>
            <a:off x="952262" y="1875361"/>
            <a:ext cx="5446938" cy="4322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42900" indent="-242900" algn="l">
              <a:lnSpc>
                <a:spcPts val="2722"/>
              </a:lnSpc>
              <a:buSzPct val="100000"/>
              <a:buChar char="•"/>
            </a:pPr>
            <a:r>
              <a:rPr lang="en-US" sz="2160" b="1" dirty="0">
                <a:solidFill>
                  <a:srgbClr val="62A8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Weather Data Integration</a:t>
            </a:r>
          </a:p>
          <a:p>
            <a:pPr lvl="1" algn="l">
              <a:lnSpc>
                <a:spcPts val="1932"/>
              </a:lnSpc>
              <a:spcBef>
                <a:spcPts val="404"/>
              </a:spcBef>
              <a:buNone/>
            </a:pP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Integrate weather data such as temperature, precipitation, and wind patterns to analyze their correlation with flight delays.</a:t>
            </a:r>
          </a:p>
          <a:p>
            <a:pPr marL="242900" indent="-242900" algn="l">
              <a:lnSpc>
                <a:spcPts val="2722"/>
              </a:lnSpc>
              <a:spcBef>
                <a:spcPts val="2609"/>
              </a:spcBef>
              <a:buSzPct val="100000"/>
              <a:buChar char="•"/>
            </a:pPr>
            <a:r>
              <a:rPr lang="en-US" sz="2160" b="1" dirty="0">
                <a:solidFill>
                  <a:srgbClr val="62A8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Traffic Control Integration</a:t>
            </a:r>
          </a:p>
          <a:p>
            <a:pPr lvl="1" algn="l">
              <a:lnSpc>
                <a:spcPts val="1932"/>
              </a:lnSpc>
              <a:spcBef>
                <a:spcPts val="404"/>
              </a:spcBef>
              <a:buNone/>
            </a:pP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Integrate air traffic management metrics and runway utilization data to identify system bottlenecks and optimize operations.</a:t>
            </a:r>
          </a:p>
          <a:p>
            <a:pPr marL="242900" indent="-242900" algn="l">
              <a:lnSpc>
                <a:spcPts val="2722"/>
              </a:lnSpc>
              <a:spcBef>
                <a:spcPts val="2609"/>
              </a:spcBef>
              <a:buSzPct val="100000"/>
              <a:buChar char="•"/>
            </a:pPr>
            <a:r>
              <a:rPr lang="en-US" sz="2160" b="1" dirty="0">
                <a:solidFill>
                  <a:srgbClr val="62A8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Predictive Modeling</a:t>
            </a:r>
          </a:p>
          <a:p>
            <a:pPr lvl="1" algn="l">
              <a:lnSpc>
                <a:spcPts val="1932"/>
              </a:lnSpc>
              <a:spcBef>
                <a:spcPts val="404"/>
              </a:spcBef>
              <a:buNone/>
            </a:pP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 machine learning models to predict flight delays and cancellation risks, considering weather, airport performance, passenger behavior, and seasonal trends.</a:t>
            </a:r>
            <a:endParaRPr lang="en-US" dirty="0"/>
          </a:p>
        </p:txBody>
      </p:sp>
      <p:sp>
        <p:nvSpPr>
          <p:cNvPr id="5" name="Object 4"/>
          <p:cNvSpPr/>
          <p:nvPr/>
        </p:nvSpPr>
        <p:spPr>
          <a:xfrm>
            <a:off x="6284928" y="1875361"/>
            <a:ext cx="5446938" cy="319632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42900" indent="-242900" algn="l">
              <a:lnSpc>
                <a:spcPts val="2722"/>
              </a:lnSpc>
              <a:buSzPct val="100000"/>
              <a:buChar char="•"/>
            </a:pPr>
            <a:r>
              <a:rPr lang="en-US" sz="2160" b="1" dirty="0">
                <a:solidFill>
                  <a:srgbClr val="62A8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Dynamic Dashboard Development</a:t>
            </a:r>
          </a:p>
          <a:p>
            <a:pPr lvl="1" algn="l">
              <a:lnSpc>
                <a:spcPts val="1932"/>
              </a:lnSpc>
              <a:spcBef>
                <a:spcPts val="404"/>
              </a:spcBef>
              <a:buNone/>
            </a:pP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a real-time dashboard that integrates live data feeds, tracks key performance indicators, and monitors flight status for informed decision-making.</a:t>
            </a:r>
          </a:p>
          <a:p>
            <a:pPr marL="242900" indent="-242900" algn="l">
              <a:lnSpc>
                <a:spcPts val="2722"/>
              </a:lnSpc>
              <a:spcBef>
                <a:spcPts val="2609"/>
              </a:spcBef>
              <a:buSzPct val="100000"/>
              <a:buChar char="•"/>
            </a:pPr>
            <a:r>
              <a:rPr lang="en-US" sz="2160" b="1" dirty="0">
                <a:solidFill>
                  <a:srgbClr val="62A8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 Support Features</a:t>
            </a:r>
          </a:p>
          <a:p>
            <a:pPr lvl="1" algn="l">
              <a:lnSpc>
                <a:spcPts val="1932"/>
              </a:lnSpc>
              <a:spcBef>
                <a:spcPts val="404"/>
              </a:spcBef>
              <a:buNone/>
            </a:pPr>
            <a:r>
              <a:rPr lang="en-US" sz="1380" dirty="0">
                <a:solidFill>
                  <a:srgbClr val="5A5A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 automated alert systems, resource optimization recommendations, and passenger communication automation to enhance operational efficiency and responsiveness.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/>
          <p:cNvPicPr>
            <a:picLocks noChangeAspect="1"/>
          </p:cNvPicPr>
          <p:nvPr/>
        </p:nvPicPr>
        <p:blipFill>
          <a:blip r:embed="rId3"/>
          <a:srcRect l="3647" t="33805" r="4483" b="6501"/>
          <a:stretch/>
        </p:blipFill>
        <p:spPr>
          <a:xfrm>
            <a:off x="9523" y="1240794"/>
            <a:ext cx="12174884" cy="5675553"/>
          </a:xfrm>
          <a:prstGeom prst="rect">
            <a:avLst/>
          </a:prstGeom>
        </p:spPr>
      </p:pic>
      <p:pic>
        <p:nvPicPr>
          <p:cNvPr id="4" name="Object 3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04576" y="97940"/>
            <a:ext cx="1017807" cy="1017807"/>
          </a:xfrm>
          <a:prstGeom prst="rect">
            <a:avLst/>
          </a:prstGeom>
        </p:spPr>
      </p:pic>
      <p:pic>
        <p:nvPicPr>
          <p:cNvPr id="5" name="Object 4"/>
          <p:cNvPicPr>
            <a:picLocks noChangeAspect="1"/>
          </p:cNvPicPr>
          <p:nvPr/>
        </p:nvPicPr>
        <p:blipFill>
          <a:blip r:embed="rId5"/>
          <a:srcRect l="-12176" t="-12176" r="-12176" b="-12176"/>
          <a:stretch/>
        </p:blipFill>
        <p:spPr>
          <a:xfrm>
            <a:off x="10398589" y="-192015"/>
            <a:ext cx="1406539" cy="1596836"/>
          </a:xfrm>
          <a:prstGeom prst="rect">
            <a:avLst/>
          </a:prstGeom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id="{84A68423-2876-0FF6-16B7-442E33CE4EDC}"/>
              </a:ext>
            </a:extLst>
          </p:cNvPr>
          <p:cNvSpPr/>
          <p:nvPr/>
        </p:nvSpPr>
        <p:spPr>
          <a:xfrm>
            <a:off x="-173512" y="269437"/>
            <a:ext cx="12188952" cy="5099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914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Example of Excellence in the Industry</a:t>
            </a:r>
            <a:endParaRPr lang="en-US" sz="3200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5692" y="1637268"/>
            <a:ext cx="5791327" cy="390428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en-CA"/>
          </a:p>
        </p:txBody>
      </p:sp>
      <p:sp>
        <p:nvSpPr>
          <p:cNvPr id="3" name="Object 2"/>
          <p:cNvSpPr/>
          <p:nvPr/>
        </p:nvSpPr>
        <p:spPr>
          <a:xfrm>
            <a:off x="-756170" y="1427798"/>
            <a:ext cx="6370364" cy="6883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5422"/>
              </a:lnSpc>
              <a:buNone/>
            </a:pPr>
            <a:r>
              <a:rPr lang="en-US" sz="4303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You!!</a:t>
            </a:r>
            <a:endParaRPr lang="en-US" dirty="0"/>
          </a:p>
        </p:txBody>
      </p:sp>
      <p:pic>
        <p:nvPicPr>
          <p:cNvPr id="4" name="Object 3"/>
          <p:cNvPicPr>
            <a:picLocks noChangeAspect="1"/>
          </p:cNvPicPr>
          <p:nvPr/>
        </p:nvPicPr>
        <p:blipFill>
          <a:blip r:embed="rId3"/>
          <a:srcRect l="9375" r="4870" b="14245"/>
          <a:stretch/>
        </p:blipFill>
        <p:spPr>
          <a:xfrm>
            <a:off x="980830" y="-418995"/>
            <a:ext cx="13633330" cy="9186880"/>
          </a:xfrm>
          <a:prstGeom prst="rect">
            <a:avLst/>
          </a:prstGeom>
        </p:spPr>
      </p:pic>
      <p:sp>
        <p:nvSpPr>
          <p:cNvPr id="5" name="Object 4"/>
          <p:cNvSpPr/>
          <p:nvPr/>
        </p:nvSpPr>
        <p:spPr>
          <a:xfrm>
            <a:off x="190452" y="3829006"/>
            <a:ext cx="8595294" cy="5099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4016"/>
              </a:lnSpc>
              <a:buNone/>
            </a:pPr>
            <a:r>
              <a:rPr lang="en-US" sz="318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  </a:t>
            </a:r>
            <a:r>
              <a:rPr lang="en-US" sz="318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Appreciate Your Attention!  </a:t>
            </a:r>
            <a:endParaRPr lang="en-US" b="1" dirty="0"/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C8BD2E0B-F478-5202-0BC0-41DFAE6C79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04" t="-104" r="-104" b="-104"/>
          <a:stretch/>
        </p:blipFill>
        <p:spPr>
          <a:xfrm>
            <a:off x="6617397" y="1114456"/>
            <a:ext cx="1338851" cy="7321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1182</TotalTime>
  <Words>1148</Words>
  <Application>Microsoft Office PowerPoint</Application>
  <PresentationFormat>Widescreen</PresentationFormat>
  <Paragraphs>159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Montserrat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Beautiful.ai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Optimizing Efficiency in the Airline Industry</dc:title>
  <dc:subject>Optimizing Efficiency in the Airline Industry</dc:subject>
  <dc:creator>eye19833@gmail.com</dc:creator>
  <cp:lastModifiedBy>Muhammad Maqsud Hussain</cp:lastModifiedBy>
  <cp:revision>16</cp:revision>
  <dcterms:created xsi:type="dcterms:W3CDTF">2024-12-02T17:14:59Z</dcterms:created>
  <dcterms:modified xsi:type="dcterms:W3CDTF">2024-12-03T22:20:07Z</dcterms:modified>
</cp:coreProperties>
</file>